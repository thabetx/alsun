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36815" y="1828800"/>
            <a:ext cx="4206240" cy="420624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rcRect l="45602" t="24208" r="45375" b="61162"/>
          <a:stretch>
            <a:fillRect/>
          </a:stretch>
        </p:blipFill>
        <p:spPr>
          <a:xfrm>
            <a:off x="8503920" y="502920"/>
            <a:ext cx="685800" cy="868680"/>
          </a:xfrm>
          <a:prstGeom prst="rect">
            <a:avLst/>
          </a:prstGeom>
        </p:spPr>
      </p:pic>
      <p:pic>
        <p:nvPicPr>
          <p:cNvPr id="4" name="Picture 3" descr="image2.png"/>
          <p:cNvPicPr>
            <a:picLocks noChangeAspect="1"/>
          </p:cNvPicPr>
          <p:nvPr/>
        </p:nvPicPr>
        <p:blipFill>
          <a:blip r:embed="rId3"/>
          <a:srcRect t="38808" r="2152" b="44895"/>
          <a:stretch>
            <a:fillRect/>
          </a:stretch>
        </p:blipFill>
        <p:spPr>
          <a:xfrm>
            <a:off x="1463040" y="566928"/>
            <a:ext cx="7068312" cy="914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1508760"/>
            <a:ext cx="10911535" cy="1781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ar-EG" sz="1100" b="0" i="1" dirty="0">
                <a:solidFill>
                  <a:srgbClr val="8B9295"/>
                </a:solidFill>
                <a:latin typeface="Arial"/>
              </a:rPr>
              <a:t>سورة إبراهيم (4)</a:t>
            </a:r>
            <a:endParaRPr sz="1100" b="0" i="1" dirty="0">
              <a:solidFill>
                <a:srgbClr val="8B9295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" y="2918936"/>
            <a:ext cx="12191695" cy="14773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en-US" sz="9600" b="1" i="0" dirty="0" err="1">
                <a:solidFill>
                  <a:srgbClr val="F55E61"/>
                </a:solidFill>
                <a:effectLst/>
                <a:latin typeface="Aref Ruqaa" panose="02000503000000000000" pitchFamily="2" charset="-78"/>
                <a:cs typeface="Aref Ruqaa" panose="02000503000000000000" pitchFamily="2" charset="-78"/>
              </a:rPr>
              <a:t>أَلْسُن</a:t>
            </a:r>
            <a:endParaRPr sz="6000" b="1" i="0" dirty="0">
              <a:solidFill>
                <a:srgbClr val="F55E61"/>
              </a:solidFill>
              <a:latin typeface="Arial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2" y="475488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000" b="0" i="0" dirty="0" err="1">
                <a:solidFill>
                  <a:srgbClr val="5E696C"/>
                </a:solidFill>
                <a:latin typeface="Arial"/>
              </a:rPr>
              <a:t>ترجمة</a:t>
            </a:r>
            <a:r>
              <a:rPr sz="20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5E696C"/>
                </a:solidFill>
                <a:latin typeface="Arial"/>
              </a:rPr>
              <a:t>الكتب</a:t>
            </a:r>
            <a:r>
              <a:rPr sz="20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5E696C"/>
                </a:solidFill>
                <a:latin typeface="Arial"/>
              </a:rPr>
              <a:t>الإسلامية</a:t>
            </a:r>
            <a:r>
              <a:rPr sz="20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5E696C"/>
                </a:solidFill>
                <a:latin typeface="Arial"/>
              </a:rPr>
              <a:t>بدقة</a:t>
            </a:r>
            <a:r>
              <a:rPr sz="20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5E696C"/>
                </a:solidFill>
                <a:latin typeface="Arial"/>
              </a:rPr>
              <a:t>شرعية</a:t>
            </a:r>
            <a:r>
              <a:rPr sz="20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5E696C"/>
                </a:solidFill>
                <a:latin typeface="Arial"/>
              </a:rPr>
              <a:t>موثوقة</a:t>
            </a:r>
            <a:endParaRPr sz="2000" b="0" i="0" dirty="0">
              <a:solidFill>
                <a:srgbClr val="5E696C"/>
              </a:solidFill>
              <a:latin typeface="Arial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00" b="1" i="0" dirty="0" err="1">
                <a:solidFill>
                  <a:srgbClr val="E14548"/>
                </a:solidFill>
                <a:latin typeface="Arial"/>
              </a:rPr>
              <a:t>تحدي</a:t>
            </a:r>
            <a:r>
              <a:rPr sz="1300" b="1" i="0" dirty="0">
                <a:solidFill>
                  <a:srgbClr val="E14548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E14548"/>
                </a:solidFill>
                <a:latin typeface="Arial"/>
              </a:rPr>
              <a:t>الذكاء</a:t>
            </a:r>
            <a:r>
              <a:rPr sz="1300" b="1" i="0" dirty="0">
                <a:solidFill>
                  <a:srgbClr val="E14548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E14548"/>
                </a:solidFill>
                <a:latin typeface="Arial"/>
              </a:rPr>
              <a:t>الاصطناعي</a:t>
            </a:r>
            <a:r>
              <a:rPr sz="1300" b="1" i="0" dirty="0">
                <a:solidFill>
                  <a:srgbClr val="E14548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E14548"/>
                </a:solidFill>
                <a:latin typeface="Arial"/>
              </a:rPr>
              <a:t>في</a:t>
            </a:r>
            <a:r>
              <a:rPr sz="1300" b="1" i="0" dirty="0">
                <a:solidFill>
                  <a:srgbClr val="E14548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E14548"/>
                </a:solidFill>
                <a:latin typeface="Arial"/>
              </a:rPr>
              <a:t>خدمة</a:t>
            </a:r>
            <a:r>
              <a:rPr sz="1300" b="1" i="0" dirty="0">
                <a:solidFill>
                  <a:srgbClr val="E14548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E14548"/>
                </a:solidFill>
                <a:latin typeface="Arial"/>
              </a:rPr>
              <a:t>المحتوى</a:t>
            </a:r>
            <a:r>
              <a:rPr sz="1300" b="1" i="0" dirty="0">
                <a:solidFill>
                  <a:srgbClr val="E14548"/>
                </a:solidFill>
                <a:latin typeface="Arial"/>
              </a:rPr>
              <a:t> </a:t>
            </a:r>
            <a:r>
              <a:rPr sz="1300" b="1" i="0" dirty="0" err="1">
                <a:solidFill>
                  <a:srgbClr val="E14548"/>
                </a:solidFill>
                <a:latin typeface="Arial"/>
              </a:rPr>
              <a:t>الإسلامي</a:t>
            </a:r>
            <a:endParaRPr sz="1300" b="1" i="0" dirty="0">
              <a:solidFill>
                <a:srgbClr val="E14548"/>
              </a:solidFill>
              <a:latin typeface="Arial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FC6C05-FC79-F72A-CEF7-AFAA47CD2028}"/>
              </a:ext>
            </a:extLst>
          </p:cNvPr>
          <p:cNvSpPr/>
          <p:nvPr/>
        </p:nvSpPr>
        <p:spPr>
          <a:xfrm>
            <a:off x="5730087" y="1847088"/>
            <a:ext cx="731520" cy="73152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الأجندة</a:t>
            </a:r>
          </a:p>
        </p:txBody>
      </p:sp>
      <p:sp>
        <p:nvSpPr>
          <p:cNvPr id="3" name="Oval 2"/>
          <p:cNvSpPr/>
          <p:nvPr/>
        </p:nvSpPr>
        <p:spPr>
          <a:xfrm>
            <a:off x="10195560" y="1554480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72012"/>
            <a:ext cx="9052560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800" b="1" i="0" dirty="0" err="1">
                <a:solidFill>
                  <a:srgbClr val="434343"/>
                </a:solidFill>
                <a:latin typeface="Arial"/>
              </a:rPr>
              <a:t>هدف</a:t>
            </a:r>
            <a:r>
              <a:rPr sz="18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lang="en-US" b="1" i="0" dirty="0" err="1">
                <a:solidFill>
                  <a:srgbClr val="F55E61"/>
                </a:solidFill>
                <a:effectLst/>
                <a:latin typeface="Aref Ruqaa" panose="02000503000000000000" pitchFamily="2" charset="-78"/>
                <a:cs typeface="Aref Ruqaa" panose="02000503000000000000" pitchFamily="2" charset="-78"/>
              </a:rPr>
              <a:t>أَلْسُن</a:t>
            </a:r>
            <a:r>
              <a:rPr sz="18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434343"/>
                </a:solidFill>
                <a:latin typeface="Arial"/>
              </a:rPr>
              <a:t>ورؤيته</a:t>
            </a:r>
            <a:endParaRPr sz="1800" b="1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5" name="Oval 4"/>
          <p:cNvSpPr/>
          <p:nvPr/>
        </p:nvSpPr>
        <p:spPr>
          <a:xfrm>
            <a:off x="10195560" y="2212848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40279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434343"/>
                </a:solidFill>
                <a:latin typeface="Arial"/>
              </a:rPr>
              <a:t>المشكلة وتحليل الطرق الحالية</a:t>
            </a:r>
          </a:p>
        </p:txBody>
      </p:sp>
      <p:sp>
        <p:nvSpPr>
          <p:cNvPr id="7" name="Oval 6"/>
          <p:cNvSpPr/>
          <p:nvPr/>
        </p:nvSpPr>
        <p:spPr>
          <a:xfrm>
            <a:off x="10195560" y="2871215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98647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434343"/>
                </a:solidFill>
                <a:latin typeface="Arial"/>
              </a:rPr>
              <a:t>الحل وتفاصيل المشروع</a:t>
            </a:r>
          </a:p>
        </p:txBody>
      </p:sp>
      <p:sp>
        <p:nvSpPr>
          <p:cNvPr id="9" name="Oval 8"/>
          <p:cNvSpPr/>
          <p:nvPr/>
        </p:nvSpPr>
        <p:spPr>
          <a:xfrm>
            <a:off x="10195560" y="3529584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557016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434343"/>
                </a:solidFill>
                <a:latin typeface="Arial"/>
              </a:rPr>
              <a:t>آلية العمل والتقنيات المستخدمة</a:t>
            </a:r>
          </a:p>
        </p:txBody>
      </p:sp>
      <p:sp>
        <p:nvSpPr>
          <p:cNvPr id="11" name="Oval 10"/>
          <p:cNvSpPr/>
          <p:nvPr/>
        </p:nvSpPr>
        <p:spPr>
          <a:xfrm>
            <a:off x="10195560" y="4187952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05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15384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434343"/>
                </a:solidFill>
                <a:latin typeface="Arial"/>
              </a:rPr>
              <a:t>خطة الموثوقية والسلامة العلمية</a:t>
            </a:r>
          </a:p>
        </p:txBody>
      </p:sp>
      <p:sp>
        <p:nvSpPr>
          <p:cNvPr id="13" name="Oval 12"/>
          <p:cNvSpPr/>
          <p:nvPr/>
        </p:nvSpPr>
        <p:spPr>
          <a:xfrm>
            <a:off x="10195560" y="4846320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73752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434343"/>
                </a:solidFill>
                <a:latin typeface="Arial"/>
              </a:rPr>
              <a:t>أمثلة من المنتج</a:t>
            </a:r>
          </a:p>
        </p:txBody>
      </p:sp>
      <p:sp>
        <p:nvSpPr>
          <p:cNvPr id="15" name="Oval 14"/>
          <p:cNvSpPr/>
          <p:nvPr/>
        </p:nvSpPr>
        <p:spPr>
          <a:xfrm>
            <a:off x="10195560" y="5504688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532120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800" b="1" i="0">
                <a:solidFill>
                  <a:srgbClr val="434343"/>
                </a:solidFill>
                <a:latin typeface="Arial"/>
              </a:rPr>
              <a:t>الأهمية والاستخدامات وخطط مستقبلية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200" b="1" i="0" dirty="0" err="1">
                <a:solidFill>
                  <a:srgbClr val="434343"/>
                </a:solidFill>
                <a:latin typeface="Arial"/>
              </a:rPr>
              <a:t>هدف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lang="en-US" sz="4800" b="1" i="0" dirty="0" err="1">
                <a:solidFill>
                  <a:srgbClr val="F55E61"/>
                </a:solidFill>
                <a:effectLst/>
                <a:latin typeface="Aref Ruqaa" panose="02000503000000000000" pitchFamily="2" charset="-78"/>
                <a:cs typeface="Aref Ruqaa" panose="02000503000000000000" pitchFamily="2" charset="-78"/>
              </a:rPr>
              <a:t>أَلْسُن</a:t>
            </a:r>
            <a:endParaRPr sz="4800" b="1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195560" y="2011680"/>
            <a:ext cx="502920" cy="50292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9052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00" b="0" i="0">
                <a:solidFill>
                  <a:srgbClr val="434343"/>
                </a:solidFill>
                <a:latin typeface="Arial"/>
              </a:rPr>
              <a:t>صنع أداة ترجمة متخصصة في المحتوى العربي والإسلامي.</a:t>
            </a:r>
          </a:p>
        </p:txBody>
      </p:sp>
      <p:sp>
        <p:nvSpPr>
          <p:cNvPr id="5" name="Oval 4"/>
          <p:cNvSpPr/>
          <p:nvPr/>
        </p:nvSpPr>
        <p:spPr>
          <a:xfrm>
            <a:off x="10195560" y="3291840"/>
            <a:ext cx="502920" cy="50292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9052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00" b="0" i="0">
                <a:solidFill>
                  <a:srgbClr val="434343"/>
                </a:solidFill>
                <a:latin typeface="Arial"/>
              </a:rPr>
              <a:t>استخدام الذكاء الاصطناعي في اختصار الخطوات المعتادة لترجمة الكتب والمستندات الإسلامية.</a:t>
            </a:r>
          </a:p>
        </p:txBody>
      </p:sp>
      <p:sp>
        <p:nvSpPr>
          <p:cNvPr id="7" name="Oval 6"/>
          <p:cNvSpPr/>
          <p:nvPr/>
        </p:nvSpPr>
        <p:spPr>
          <a:xfrm>
            <a:off x="10195560" y="4572000"/>
            <a:ext cx="502920" cy="50292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26280"/>
            <a:ext cx="90525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700" b="0" i="0">
                <a:solidFill>
                  <a:srgbClr val="434343"/>
                </a:solidFill>
                <a:latin typeface="Arial"/>
              </a:rPr>
              <a:t>الاعتماد على العنصر البشري في التدقيق والتوثيق لضمان صحة النص المترجم.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المشكلة</a:t>
            </a:r>
          </a:p>
        </p:txBody>
      </p:sp>
      <p:sp>
        <p:nvSpPr>
          <p:cNvPr id="3" name="Oval 2"/>
          <p:cNvSpPr/>
          <p:nvPr/>
        </p:nvSpPr>
        <p:spPr>
          <a:xfrm>
            <a:off x="10195560" y="1737360"/>
            <a:ext cx="502920" cy="50292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39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 i="0">
                <a:solidFill>
                  <a:srgbClr val="434343"/>
                </a:solidFill>
                <a:latin typeface="Arial"/>
              </a:rPr>
              <a:t>فقدان الدقة الشرعية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4028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50" b="0" i="0">
                <a:solidFill>
                  <a:srgbClr val="5E696C"/>
                </a:solidFill>
                <a:latin typeface="Arial"/>
              </a:rPr>
              <a:t>أدوات الترجمة العامة لا تفرّق بين المعنى اللغوي والمعنى الشرعي الدقيق للمصطلح الإسلامي.</a:t>
            </a:r>
          </a:p>
        </p:txBody>
      </p:sp>
      <p:sp>
        <p:nvSpPr>
          <p:cNvPr id="6" name="Oval 5"/>
          <p:cNvSpPr/>
          <p:nvPr/>
        </p:nvSpPr>
        <p:spPr>
          <a:xfrm>
            <a:off x="10195560" y="3154680"/>
            <a:ext cx="502920" cy="50292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 i="0">
                <a:solidFill>
                  <a:srgbClr val="434343"/>
                </a:solidFill>
                <a:latin typeface="Arial"/>
              </a:rPr>
              <a:t>غياب مؤشر الثقة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50" b="0" i="0">
                <a:solidFill>
                  <a:srgbClr val="5E696C"/>
                </a:solidFill>
                <a:latin typeface="Arial"/>
              </a:rPr>
              <a:t>لا يعرف القارئ أي جزء من الترجمة موثوق تماماً، وأيها يحتاج مراجعة من متخصص شرعي.</a:t>
            </a:r>
          </a:p>
        </p:txBody>
      </p:sp>
      <p:sp>
        <p:nvSpPr>
          <p:cNvPr id="9" name="Oval 8"/>
          <p:cNvSpPr/>
          <p:nvPr/>
        </p:nvSpPr>
        <p:spPr>
          <a:xfrm>
            <a:off x="10195560" y="4572000"/>
            <a:ext cx="502920" cy="50292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26280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900" b="1" i="0">
                <a:solidFill>
                  <a:srgbClr val="434343"/>
                </a:solidFill>
                <a:latin typeface="Arial"/>
              </a:rPr>
              <a:t>بطء الترجمة اليدوية وتكلفتها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74920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50" b="0" i="0">
                <a:solidFill>
                  <a:srgbClr val="5E696C"/>
                </a:solidFill>
                <a:latin typeface="Arial"/>
              </a:rPr>
              <a:t>ترجمة كتاب إسلامي كامل يدوياً قد تستغرق شهوراً وتتطلب فريقاً متخصصاً مكلفاً.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الترجمات الحالية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00" b="0" i="0">
                <a:solidFill>
                  <a:srgbClr val="5E696C"/>
                </a:solidFill>
                <a:latin typeface="Arial"/>
              </a:rPr>
              <a:t>قبل أن نصل إلى منهج ألسن، هذه أبرز الطرق المتّبعة حالياً — ولكل منها عيب جوهري: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78727" y="237744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553047" y="27432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700" b="1" i="0">
                <a:solidFill>
                  <a:srgbClr val="434343"/>
                </a:solidFill>
                <a:latin typeface="Arial"/>
              </a:rPr>
              <a:t>يدوية بالكامل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047" y="3749039"/>
            <a:ext cx="4572000" cy="2480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300" b="0" i="0" dirty="0" err="1">
                <a:solidFill>
                  <a:srgbClr val="5E696C"/>
                </a:solidFill>
                <a:latin typeface="Arial"/>
              </a:rPr>
              <a:t>إعادة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كتابة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الترجمة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من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الصفر</a:t>
            </a:r>
            <a:r>
              <a:rPr lang="ar-EG" sz="1300" b="0" i="0" dirty="0">
                <a:solidFill>
                  <a:srgbClr val="5E696C"/>
                </a:solidFill>
                <a:latin typeface="Arial"/>
              </a:rPr>
              <a:t> -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دقيقة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لكن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تستغرق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وقتاً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طويلاً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جداً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وتكلفة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300" b="0" i="0" dirty="0" err="1">
                <a:solidFill>
                  <a:srgbClr val="5E696C"/>
                </a:solidFill>
                <a:latin typeface="Arial"/>
              </a:rPr>
              <a:t>عالية</a:t>
            </a:r>
            <a:r>
              <a:rPr sz="1300" b="0" i="0" dirty="0">
                <a:solidFill>
                  <a:srgbClr val="5E696C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2327" y="2377440"/>
            <a:ext cx="5120640" cy="329184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6647" y="2743200"/>
            <a:ext cx="45720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700" b="1" i="0">
                <a:solidFill>
                  <a:srgbClr val="434343"/>
                </a:solidFill>
                <a:latin typeface="Arial"/>
              </a:rPr>
              <a:t>آلية بالكامل بلا تدخل بشري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647" y="3749039"/>
            <a:ext cx="45720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40000"/>
              </a:lnSpc>
            </a:pPr>
            <a:r>
              <a:rPr sz="1300" b="0" i="0">
                <a:solidFill>
                  <a:srgbClr val="5E696C"/>
                </a:solidFill>
                <a:latin typeface="Arial"/>
              </a:rPr>
              <a:t>سريعة جداً، لكن يصعب اكتشاف الأخطاء الشرعية وتصحيحها.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200" b="1" i="0" dirty="0" err="1">
                <a:solidFill>
                  <a:srgbClr val="434343"/>
                </a:solidFill>
                <a:latin typeface="Arial"/>
              </a:rPr>
              <a:t>منهج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lang="en-US" sz="3200" b="1" i="0" dirty="0" err="1">
                <a:solidFill>
                  <a:srgbClr val="F55E61"/>
                </a:solidFill>
                <a:effectLst/>
                <a:latin typeface="Aref Ruqaa" panose="02000503000000000000" pitchFamily="2" charset="-78"/>
                <a:cs typeface="Aref Ruqaa" panose="02000503000000000000" pitchFamily="2" charset="-78"/>
              </a:rPr>
              <a:t>أَلْسُن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: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التوازن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الأمثل</a:t>
            </a:r>
            <a:endParaRPr sz="3200" b="1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1400" b="0" i="0" dirty="0" err="1">
                <a:solidFill>
                  <a:srgbClr val="5E696C"/>
                </a:solidFill>
                <a:latin typeface="Arial"/>
              </a:rPr>
              <a:t>يجمع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منهج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lang="en-US" sz="1400" b="1" i="0" dirty="0" err="1">
                <a:solidFill>
                  <a:srgbClr val="F55E61"/>
                </a:solidFill>
                <a:effectLst/>
                <a:latin typeface="Aref Ruqaa" panose="02000503000000000000" pitchFamily="2" charset="-78"/>
                <a:cs typeface="Aref Ruqaa" panose="02000503000000000000" pitchFamily="2" charset="-78"/>
              </a:rPr>
              <a:t>أَلْسُن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بين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السرعة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الآلية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والتدقيق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البشري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،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بدلاً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من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الاختيار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بين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طرف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E696C"/>
                </a:solidFill>
                <a:latin typeface="Arial"/>
              </a:rPr>
              <a:t>وآخر</a:t>
            </a:r>
            <a:r>
              <a:rPr sz="1400" b="0" i="0" dirty="0">
                <a:solidFill>
                  <a:srgbClr val="5E696C"/>
                </a:solidFill>
                <a:latin typeface="Arial"/>
              </a:rPr>
              <a:t>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80160" y="2377440"/>
            <a:ext cx="9631375" cy="292608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 w="22225">
            <a:solidFill>
              <a:srgbClr val="F55E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80160" y="2743200"/>
            <a:ext cx="9631375" cy="2914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800" b="1" i="0" dirty="0" err="1">
                <a:solidFill>
                  <a:srgbClr val="E14548"/>
                </a:solidFill>
                <a:latin typeface="Arial"/>
              </a:rPr>
              <a:t>آلي</a:t>
            </a:r>
            <a:r>
              <a:rPr lang="ar-EG" sz="1800" b="1" i="0" dirty="0">
                <a:solidFill>
                  <a:srgbClr val="E14548"/>
                </a:solidFill>
                <a:latin typeface="Arial"/>
              </a:rPr>
              <a:t>ة</a:t>
            </a:r>
            <a:r>
              <a:rPr sz="1800" b="1" i="0" dirty="0">
                <a:solidFill>
                  <a:srgbClr val="E14548"/>
                </a:solidFill>
                <a:latin typeface="Arial"/>
              </a:rPr>
              <a:t> + </a:t>
            </a:r>
            <a:r>
              <a:rPr sz="1800" b="1" i="0" dirty="0" err="1">
                <a:solidFill>
                  <a:srgbClr val="E14548"/>
                </a:solidFill>
                <a:latin typeface="Arial"/>
              </a:rPr>
              <a:t>مراجعة</a:t>
            </a:r>
            <a:r>
              <a:rPr sz="1800" b="1" i="0" dirty="0">
                <a:solidFill>
                  <a:srgbClr val="E14548"/>
                </a:solidFill>
                <a:latin typeface="Arial"/>
              </a:rPr>
              <a:t> </a:t>
            </a:r>
            <a:r>
              <a:rPr sz="1800" b="1" i="0" dirty="0" err="1">
                <a:solidFill>
                  <a:srgbClr val="E14548"/>
                </a:solidFill>
                <a:latin typeface="Arial"/>
              </a:rPr>
              <a:t>بشرية</a:t>
            </a:r>
            <a:endParaRPr sz="1800" b="1" i="0" dirty="0">
              <a:solidFill>
                <a:srgbClr val="E14548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63040" y="3566160"/>
            <a:ext cx="9265615" cy="3046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700" b="1" i="0" dirty="0" err="1">
                <a:solidFill>
                  <a:srgbClr val="434343"/>
                </a:solidFill>
                <a:latin typeface="Arial"/>
              </a:rPr>
              <a:t>استخراج</a:t>
            </a:r>
            <a:r>
              <a:rPr sz="1700" b="1" i="0" dirty="0">
                <a:solidFill>
                  <a:srgbClr val="434343"/>
                </a:solidFill>
                <a:latin typeface="Arial"/>
              </a:rPr>
              <a:t>  ←  </a:t>
            </a:r>
            <a:r>
              <a:rPr sz="1700" b="1" i="0" dirty="0" err="1">
                <a:solidFill>
                  <a:srgbClr val="434343"/>
                </a:solidFill>
                <a:latin typeface="Arial"/>
              </a:rPr>
              <a:t>ترجمة</a:t>
            </a:r>
            <a:r>
              <a:rPr sz="17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434343"/>
                </a:solidFill>
                <a:latin typeface="Arial"/>
              </a:rPr>
              <a:t>آلية</a:t>
            </a:r>
            <a:r>
              <a:rPr sz="1700" b="1" i="0" dirty="0">
                <a:solidFill>
                  <a:srgbClr val="434343"/>
                </a:solidFill>
                <a:latin typeface="Arial"/>
              </a:rPr>
              <a:t>  ←  </a:t>
            </a:r>
            <a:r>
              <a:rPr sz="1700" b="1" i="0" dirty="0" err="1">
                <a:solidFill>
                  <a:srgbClr val="434343"/>
                </a:solidFill>
                <a:latin typeface="Arial"/>
              </a:rPr>
              <a:t>مراجعة</a:t>
            </a:r>
            <a:r>
              <a:rPr sz="17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lang="ar-EG" sz="1700" b="1" dirty="0">
                <a:solidFill>
                  <a:srgbClr val="434343"/>
                </a:solidFill>
                <a:latin typeface="Arial"/>
              </a:rPr>
              <a:t>على نهج إسلامي</a:t>
            </a:r>
            <a:r>
              <a:rPr sz="1700" b="1" i="0" dirty="0">
                <a:solidFill>
                  <a:srgbClr val="434343"/>
                </a:solidFill>
                <a:latin typeface="Arial"/>
              </a:rPr>
              <a:t> ←  </a:t>
            </a:r>
            <a:r>
              <a:rPr sz="1700" b="1" i="0" dirty="0" err="1">
                <a:solidFill>
                  <a:srgbClr val="434343"/>
                </a:solidFill>
                <a:latin typeface="Arial"/>
              </a:rPr>
              <a:t>إعادة</a:t>
            </a:r>
            <a:r>
              <a:rPr sz="17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700" b="1" i="0" dirty="0" err="1">
                <a:solidFill>
                  <a:srgbClr val="434343"/>
                </a:solidFill>
                <a:latin typeface="Arial"/>
              </a:rPr>
              <a:t>تنسيق</a:t>
            </a:r>
            <a:r>
              <a:rPr sz="1700" b="1" i="0" dirty="0">
                <a:solidFill>
                  <a:srgbClr val="434343"/>
                </a:solidFill>
                <a:latin typeface="Arial"/>
              </a:rPr>
              <a:t>  ←  </a:t>
            </a:r>
            <a:r>
              <a:rPr sz="1700" b="1" i="0" dirty="0" err="1">
                <a:solidFill>
                  <a:srgbClr val="434343"/>
                </a:solidFill>
                <a:latin typeface="Arial"/>
              </a:rPr>
              <a:t>تصدير</a:t>
            </a:r>
            <a:endParaRPr sz="1700" b="1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80160" y="4480560"/>
            <a:ext cx="963137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350" b="0" i="0">
                <a:solidFill>
                  <a:srgbClr val="5E696C"/>
                </a:solidFill>
                <a:latin typeface="Arial"/>
              </a:rPr>
              <a:t>التوازن الأمثل بين السرعة والدقة الشرعية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00000"/>
              </a:lnSpc>
            </a:pPr>
            <a:r>
              <a:rPr sz="3200" b="1" i="0" dirty="0" err="1">
                <a:solidFill>
                  <a:srgbClr val="434343"/>
                </a:solidFill>
                <a:latin typeface="Arial"/>
              </a:rPr>
              <a:t>الحل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: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منصة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lang="en-US" sz="3200" b="1" i="0" dirty="0" err="1">
                <a:solidFill>
                  <a:srgbClr val="F55E61"/>
                </a:solidFill>
                <a:effectLst/>
                <a:latin typeface="Aref Ruqaa" panose="02000503000000000000" pitchFamily="2" charset="-78"/>
                <a:cs typeface="Aref Ruqaa" panose="02000503000000000000" pitchFamily="2" charset="-78"/>
              </a:rPr>
              <a:t>أَلْسُن</a:t>
            </a:r>
            <a:endParaRPr sz="3200" b="1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50" b="0" i="0" dirty="0" err="1">
                <a:solidFill>
                  <a:srgbClr val="5E696C"/>
                </a:solidFill>
                <a:latin typeface="Arial"/>
              </a:rPr>
              <a:t>يرفع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المستخدم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كتاباً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إسلامياً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بصيغة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PDF،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وتقوم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المنصة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بترجمته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آلياً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مع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الحفاظ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على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التنسيق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الأصلي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،</a:t>
            </a:r>
          </a:p>
          <a:p>
            <a:pPr algn="r" rtl="1">
              <a:lnSpc>
                <a:spcPct val="135000"/>
              </a:lnSpc>
            </a:pPr>
            <a:r>
              <a:rPr sz="1450" b="0" i="0" dirty="0" err="1">
                <a:solidFill>
                  <a:srgbClr val="5E696C"/>
                </a:solidFill>
                <a:latin typeface="Arial"/>
              </a:rPr>
              <a:t>وإظهار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نسبة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ثقة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لكل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كلمة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ومصطلح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،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استناداً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إلى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قاموس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شرعي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موثوق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من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مصادر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450" b="0" i="0" dirty="0" err="1">
                <a:solidFill>
                  <a:srgbClr val="5E696C"/>
                </a:solidFill>
                <a:latin typeface="Arial"/>
              </a:rPr>
              <a:t>معتمدة</a:t>
            </a:r>
            <a:r>
              <a:rPr sz="1450" b="0" i="0" dirty="0">
                <a:solidFill>
                  <a:srgbClr val="5E696C"/>
                </a:solidFill>
                <a:latin typeface="Arial"/>
              </a:rPr>
              <a:t>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084667" y="26060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597999" y="2770632"/>
            <a:ext cx="402336" cy="402336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1827" y="32278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50" b="1" i="0">
                <a:solidFill>
                  <a:srgbClr val="434343"/>
                </a:solidFill>
                <a:latin typeface="Arial"/>
              </a:rPr>
              <a:t>عرض مرآتي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1827" y="35661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950" b="0" i="0">
                <a:solidFill>
                  <a:srgbClr val="5E696C"/>
                </a:solidFill>
                <a:latin typeface="Arial"/>
              </a:rPr>
              <a:t>الأصل العربي والترجمة جنباً إلى جنب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1347" y="26060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894679" y="2770632"/>
            <a:ext cx="402336" cy="402336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18507" y="32278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50" b="1" i="0">
                <a:solidFill>
                  <a:srgbClr val="434343"/>
                </a:solidFill>
                <a:latin typeface="Arial"/>
              </a:rPr>
              <a:t>مؤشر ثقة لكل كلمة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8507" y="35661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950" b="0" i="0">
                <a:solidFill>
                  <a:srgbClr val="5E696C"/>
                </a:solidFill>
                <a:latin typeface="Arial"/>
              </a:rPr>
              <a:t>تسطير المصطلحات غير المؤكدة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8027" y="260604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2191359" y="2770632"/>
            <a:ext cx="402336" cy="402336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187" y="322783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50" b="1" i="0">
                <a:solidFill>
                  <a:srgbClr val="434343"/>
                </a:solidFill>
                <a:latin typeface="Arial"/>
              </a:rPr>
              <a:t>قاموس شرعي موثوق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187" y="356616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950" b="0" i="0">
                <a:solidFill>
                  <a:srgbClr val="5E696C"/>
                </a:solidFill>
                <a:latin typeface="Arial"/>
              </a:rPr>
              <a:t>ربط تلقائي بمصادر معتمدة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4667" y="425196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97999" y="4416552"/>
            <a:ext cx="402336" cy="402336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1827" y="487375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50" b="1" i="0">
                <a:solidFill>
                  <a:srgbClr val="434343"/>
                </a:solidFill>
                <a:latin typeface="Arial"/>
              </a:rPr>
              <a:t>تحرير يدوي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1827" y="52120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950" b="0" i="0">
                <a:solidFill>
                  <a:srgbClr val="5E696C"/>
                </a:solidFill>
                <a:latin typeface="Arial"/>
              </a:rPr>
              <a:t>مراجعة وتعديل مع حفظ التاريخ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1347" y="425196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894679" y="4416552"/>
            <a:ext cx="402336" cy="402336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8507" y="487375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50" b="1" i="0">
                <a:solidFill>
                  <a:srgbClr val="434343"/>
                </a:solidFill>
                <a:latin typeface="Arial"/>
              </a:rPr>
              <a:t>رفع قاموس خاص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8507" y="52120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950" b="0" i="0">
                <a:solidFill>
                  <a:srgbClr val="5E696C"/>
                </a:solidFill>
                <a:latin typeface="Arial"/>
              </a:rPr>
              <a:t>يضيف المستخدم مصطلحاته ومصادره الخاصة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78027" y="4251960"/>
            <a:ext cx="3429000" cy="14173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2191359" y="4416552"/>
            <a:ext cx="402336" cy="402336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187" y="4873752"/>
            <a:ext cx="3154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1250" b="1" i="0">
                <a:solidFill>
                  <a:srgbClr val="434343"/>
                </a:solidFill>
                <a:latin typeface="Arial"/>
              </a:rPr>
              <a:t>مساعد ذكي بعد الترجمة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187" y="5212080"/>
            <a:ext cx="31546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950" b="0" i="0">
                <a:solidFill>
                  <a:srgbClr val="5E696C"/>
                </a:solidFill>
                <a:latin typeface="Arial"/>
              </a:rPr>
              <a:t>طلب تعديلات مخصصة للنص عبر محادثة AI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00800"/>
            <a:ext cx="365760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rtl="1"/>
            <a:r>
              <a:rPr lang="en-US" sz="1200" b="1" i="0" dirty="0" err="1">
                <a:solidFill>
                  <a:srgbClr val="F55E61"/>
                </a:solidFill>
                <a:effectLst/>
                <a:latin typeface="Aref Ruqaa" panose="02000503000000000000" pitchFamily="2" charset="-78"/>
                <a:cs typeface="Aref Ruqaa" panose="02000503000000000000" pitchFamily="2" charset="-78"/>
              </a:rPr>
              <a:t>أَلْسُن</a:t>
            </a:r>
            <a:r>
              <a:rPr sz="1100" b="0" i="0" dirty="0">
                <a:solidFill>
                  <a:srgbClr val="8B9295"/>
                </a:solidFill>
                <a:latin typeface="Arial"/>
              </a:rPr>
              <a:t>  ·  Alsun.ai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تعريف المشروع بالتفصيل</a:t>
            </a:r>
          </a:p>
        </p:txBody>
      </p:sp>
      <p:sp>
        <p:nvSpPr>
          <p:cNvPr id="3" name="Oval 2"/>
          <p:cNvSpPr/>
          <p:nvPr/>
        </p:nvSpPr>
        <p:spPr>
          <a:xfrm>
            <a:off x="10378440" y="1737360"/>
            <a:ext cx="384048" cy="384048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E14548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63640" y="1764791"/>
            <a:ext cx="3977639" cy="250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 i="0" dirty="0" err="1">
                <a:solidFill>
                  <a:srgbClr val="434343"/>
                </a:solidFill>
                <a:latin typeface="Arial"/>
              </a:rPr>
              <a:t>ضم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جميع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خطوات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الترجمة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في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برنامج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واحد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متكامل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.</a:t>
            </a:r>
          </a:p>
        </p:txBody>
      </p:sp>
      <p:sp>
        <p:nvSpPr>
          <p:cNvPr id="5" name="Oval 4"/>
          <p:cNvSpPr/>
          <p:nvPr/>
        </p:nvSpPr>
        <p:spPr>
          <a:xfrm>
            <a:off x="10378440" y="2834639"/>
            <a:ext cx="384048" cy="384048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E14548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2862071"/>
            <a:ext cx="3977639" cy="250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 i="0" dirty="0" err="1">
                <a:solidFill>
                  <a:srgbClr val="434343"/>
                </a:solidFill>
                <a:latin typeface="Arial"/>
              </a:rPr>
              <a:t>فهم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التنسيق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الأصلي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للمستندات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لتجنب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إعادة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التنسيق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يدوياً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.</a:t>
            </a:r>
          </a:p>
        </p:txBody>
      </p:sp>
      <p:sp>
        <p:nvSpPr>
          <p:cNvPr id="7" name="Oval 6"/>
          <p:cNvSpPr/>
          <p:nvPr/>
        </p:nvSpPr>
        <p:spPr>
          <a:xfrm>
            <a:off x="10378440" y="3931920"/>
            <a:ext cx="384048" cy="384048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E14548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959352"/>
            <a:ext cx="3977639" cy="250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 i="0" dirty="0" err="1">
                <a:solidFill>
                  <a:srgbClr val="434343"/>
                </a:solidFill>
                <a:latin typeface="Arial"/>
              </a:rPr>
              <a:t>تحويل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المستندات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المصورة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إلى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نصوص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إلكترونية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(OCR).</a:t>
            </a:r>
          </a:p>
        </p:txBody>
      </p:sp>
      <p:sp>
        <p:nvSpPr>
          <p:cNvPr id="9" name="Oval 8"/>
          <p:cNvSpPr/>
          <p:nvPr/>
        </p:nvSpPr>
        <p:spPr>
          <a:xfrm>
            <a:off x="10378440" y="5029200"/>
            <a:ext cx="384048" cy="384048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E14548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5056632"/>
            <a:ext cx="3977639" cy="250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 i="0" dirty="0" err="1">
                <a:solidFill>
                  <a:srgbClr val="434343"/>
                </a:solidFill>
                <a:latin typeface="Arial"/>
              </a:rPr>
              <a:t>ترجمة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النصوص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بالذكاء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الاصطناعي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مع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الحفاظ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على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المعنى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الأصلي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.</a:t>
            </a:r>
          </a:p>
        </p:txBody>
      </p:sp>
      <p:sp>
        <p:nvSpPr>
          <p:cNvPr id="11" name="Oval 10"/>
          <p:cNvSpPr/>
          <p:nvPr/>
        </p:nvSpPr>
        <p:spPr>
          <a:xfrm>
            <a:off x="5257800" y="1737360"/>
            <a:ext cx="384048" cy="384048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E14548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92223"/>
            <a:ext cx="4434840" cy="250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 i="0" dirty="0" err="1">
                <a:solidFill>
                  <a:srgbClr val="434343"/>
                </a:solidFill>
                <a:latin typeface="Arial"/>
              </a:rPr>
              <a:t>إتاحة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التعديل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الحرفي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على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النص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المترجم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لضمان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الدقة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.</a:t>
            </a:r>
          </a:p>
        </p:txBody>
      </p:sp>
      <p:sp>
        <p:nvSpPr>
          <p:cNvPr id="13" name="Oval 12"/>
          <p:cNvSpPr/>
          <p:nvPr/>
        </p:nvSpPr>
        <p:spPr>
          <a:xfrm>
            <a:off x="5257800" y="2834639"/>
            <a:ext cx="384048" cy="384048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E14548"/>
                </a:solidFill>
                <a:latin typeface="Arial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9503"/>
            <a:ext cx="4434840" cy="250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ar-EG" sz="1400" b="0" i="0" dirty="0">
                <a:solidFill>
                  <a:srgbClr val="434343"/>
                </a:solidFill>
                <a:latin typeface="Arial"/>
              </a:rPr>
              <a:t>استخدام الذكاء الاصطناعي لتوجيه وتعديل الترجمة.</a:t>
            </a:r>
            <a:endParaRPr sz="1400" b="0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5257800" y="3931920"/>
            <a:ext cx="384048" cy="384048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E14548"/>
                </a:solidFill>
                <a:latin typeface="Arial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86784"/>
            <a:ext cx="4434840" cy="250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400" b="0" i="0" dirty="0" err="1">
                <a:solidFill>
                  <a:srgbClr val="434343"/>
                </a:solidFill>
                <a:latin typeface="Arial"/>
              </a:rPr>
              <a:t>إتاحة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ترجمة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النصوص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لعدة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لغات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434343"/>
                </a:solidFill>
                <a:latin typeface="Arial"/>
              </a:rPr>
              <a:t>فورياً</a:t>
            </a:r>
            <a:r>
              <a:rPr sz="1400" b="0" i="0" dirty="0">
                <a:solidFill>
                  <a:srgbClr val="434343"/>
                </a:solidFill>
                <a:latin typeface="Arial"/>
              </a:rPr>
              <a:t>.</a:t>
            </a:r>
          </a:p>
        </p:txBody>
      </p:sp>
      <p:sp>
        <p:nvSpPr>
          <p:cNvPr id="17" name="Oval 16"/>
          <p:cNvSpPr/>
          <p:nvPr/>
        </p:nvSpPr>
        <p:spPr>
          <a:xfrm>
            <a:off x="5257800" y="5029200"/>
            <a:ext cx="384048" cy="384048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200" b="1">
                <a:solidFill>
                  <a:srgbClr val="E14548"/>
                </a:solidFill>
                <a:latin typeface="Arial"/>
              </a:rPr>
              <a:t>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084064"/>
            <a:ext cx="4434840" cy="2509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lang="ar-EG" sz="1400" b="0" i="0" dirty="0">
                <a:solidFill>
                  <a:srgbClr val="434343"/>
                </a:solidFill>
                <a:latin typeface="Arial"/>
              </a:rPr>
              <a:t>واجهة تعاون تتيح لعدة أفراد العمل على نفس المشروع.</a:t>
            </a:r>
            <a:endParaRPr sz="1400" b="0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 dirty="0" err="1">
                <a:solidFill>
                  <a:srgbClr val="8B9295"/>
                </a:solidFill>
                <a:latin typeface="Arial"/>
              </a:rPr>
              <a:t>ألسن</a:t>
            </a:r>
            <a:r>
              <a:rPr sz="1100" b="0" i="0" dirty="0">
                <a:solidFill>
                  <a:srgbClr val="8B9295"/>
                </a:solidFill>
                <a:latin typeface="Arial"/>
              </a:rPr>
              <a:t>  ·  Alsun.ai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آلية العمل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283464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513331" y="2468880"/>
            <a:ext cx="585216" cy="585216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5204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إعادة التنسيق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0018" y="283464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4373270" y="2468880"/>
            <a:ext cx="585216" cy="585216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37178" y="35204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مراجعة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90087" y="3337560"/>
            <a:ext cx="49164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i="0">
                <a:solidFill>
                  <a:srgbClr val="8B9295"/>
                </a:solidFill>
                <a:latin typeface="Arial"/>
              </a:rPr>
              <a:t>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59956" y="283464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233208" y="2468880"/>
            <a:ext cx="585216" cy="585216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7116" y="35204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الترجمة الآلية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0026" y="3337560"/>
            <a:ext cx="49164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i="0">
                <a:solidFill>
                  <a:srgbClr val="8B9295"/>
                </a:solidFill>
                <a:latin typeface="Arial"/>
              </a:rPr>
              <a:t>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9895" y="2834640"/>
            <a:ext cx="2331720" cy="173736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093147" y="2468880"/>
            <a:ext cx="585216" cy="585216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7055" y="3520440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20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استخراج الكلمات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9964" y="3337560"/>
            <a:ext cx="491642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2600" b="1" i="0">
                <a:solidFill>
                  <a:srgbClr val="8B9295"/>
                </a:solidFill>
                <a:latin typeface="Arial"/>
              </a:rPr>
              <a:t>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التقنيات المستخدمة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233007" y="16002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10896447" y="1856232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61607" y="17647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 dirty="0" err="1">
                <a:solidFill>
                  <a:srgbClr val="434343"/>
                </a:solidFill>
                <a:latin typeface="Arial"/>
              </a:rPr>
              <a:t>RetainPDF</a:t>
            </a:r>
            <a:endParaRPr sz="1450" b="1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461607" y="2167128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>
                <a:solidFill>
                  <a:srgbClr val="5E696C"/>
                </a:solidFill>
                <a:latin typeface="Arial"/>
              </a:rPr>
              <a:t>معالجة ملفات الـ PDF وصناعة الملف النهائي مع الحفاظ على التنسيق.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0887" y="16002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364327" y="1856232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9487" y="17647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Docling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487" y="2167128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>
                <a:solidFill>
                  <a:srgbClr val="5E696C"/>
                </a:solidFill>
                <a:latin typeface="Arial"/>
              </a:rPr>
              <a:t>تقسيم صفحات المستند إلى أجزاء وعناصر قابلة للمعالجة.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32004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96447" y="3456432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33649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نماذج لغوية كبيرة (LLMs)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7" y="3767328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>
                <a:solidFill>
                  <a:srgbClr val="5E696C"/>
                </a:solidFill>
                <a:latin typeface="Arial"/>
              </a:rPr>
              <a:t>ترجمة آلية مزوّدة ببيانات موثوقة، مع الحفاظ على السياق الموضوعي.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0887" y="32004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364327" y="3456432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9487" y="33649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واجهة مستخدم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9487" y="3767328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>
                <a:solidFill>
                  <a:srgbClr val="5E696C"/>
                </a:solidFill>
                <a:latin typeface="Arial"/>
              </a:rPr>
              <a:t>لإدارة مشاريع الترجمة والمراجعة والتعديل.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8006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896447" y="5056632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9651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خادم Python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61607" y="5367528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>
                <a:solidFill>
                  <a:srgbClr val="5E696C"/>
                </a:solidFill>
                <a:latin typeface="Arial"/>
              </a:rPr>
              <a:t>لتنفيذ مهام قراءة البيانات والترجمة.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0887" y="4800600"/>
            <a:ext cx="5257800" cy="137160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5364327" y="5056632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487" y="4965192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450" b="1" i="0">
                <a:solidFill>
                  <a:srgbClr val="434343"/>
                </a:solidFill>
                <a:latin typeface="Arial"/>
              </a:rPr>
              <a:t>قاعدة بيانات PostgreSQL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487" y="5367528"/>
            <a:ext cx="425196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050" b="0" i="0">
                <a:solidFill>
                  <a:srgbClr val="5E696C"/>
                </a:solidFill>
                <a:latin typeface="Arial"/>
              </a:rPr>
              <a:t>لتخزين المستندات وبيانات الترجمة.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518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 dirty="0" err="1">
                <a:solidFill>
                  <a:srgbClr val="434343"/>
                </a:solidFill>
                <a:latin typeface="Arial"/>
              </a:rPr>
              <a:t>خطة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الموثوقية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والسلامة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العلمي</a:t>
            </a:r>
            <a:r>
              <a:rPr lang="ar-EG" sz="3200" b="1" i="0" dirty="0">
                <a:solidFill>
                  <a:srgbClr val="434343"/>
                </a:solidFill>
                <a:latin typeface="Arial"/>
              </a:rPr>
              <a:t>ة(1)</a:t>
            </a:r>
            <a:endParaRPr sz="3200" b="1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5000"/>
              </a:lnSpc>
            </a:pPr>
            <a:r>
              <a:rPr sz="1450" b="0" i="0">
                <a:solidFill>
                  <a:srgbClr val="5E696C"/>
                </a:solidFill>
                <a:latin typeface="Arial"/>
              </a:rPr>
              <a:t>كل كلمة تُترجم آلياً تحمل نسبة ثقة واضحة، وكل مصطلح دون العتبة المطلوبة يُحال إلى مراجعة بشرية</a:t>
            </a:r>
          </a:p>
          <a:p>
            <a:pPr algn="r" rtl="1">
              <a:lnSpc>
                <a:spcPct val="135000"/>
              </a:lnSpc>
            </a:pPr>
            <a:r>
              <a:rPr sz="1450" b="0" i="0">
                <a:solidFill>
                  <a:srgbClr val="5E696C"/>
                </a:solidFill>
                <a:latin typeface="Arial"/>
              </a:rPr>
              <a:t>قبل اعتماده — لضمان عدم المساس بالمعنى أو الدقة الشرعية.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9487" y="3017520"/>
            <a:ext cx="3200400" cy="21031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 w="19050">
            <a:solidFill>
              <a:srgbClr val="F0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29487" y="33375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 i="0">
                <a:solidFill>
                  <a:srgbClr val="F55E61"/>
                </a:solidFill>
                <a:latin typeface="Arial"/>
              </a:rPr>
              <a:t>+85%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42519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 i="0">
                <a:solidFill>
                  <a:srgbClr val="5E696C"/>
                </a:solidFill>
                <a:latin typeface="Arial"/>
              </a:rPr>
              <a:t>عتبة الثقة لاعتماد الترجمة تلقائياً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95647" y="3017520"/>
            <a:ext cx="3200400" cy="21031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 w="19050">
            <a:solidFill>
              <a:srgbClr val="F0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95647" y="33375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 i="0">
                <a:solidFill>
                  <a:srgbClr val="F55E61"/>
                </a:solidFill>
                <a:latin typeface="Arial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24247" y="42519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 i="0">
                <a:solidFill>
                  <a:srgbClr val="5E696C"/>
                </a:solidFill>
                <a:latin typeface="Arial"/>
              </a:rPr>
              <a:t>مراجعة بشرية إلزامية دون العتبة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61807" y="3017520"/>
            <a:ext cx="3200400" cy="2103120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 w="19050">
            <a:solidFill>
              <a:srgbClr val="F0E1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61807" y="3337560"/>
            <a:ext cx="3200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 i="0">
                <a:solidFill>
                  <a:srgbClr val="F55E61"/>
                </a:solidFill>
                <a:latin typeface="Arial"/>
              </a:rPr>
              <a:t>4+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90407" y="4251960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30000"/>
              </a:lnSpc>
            </a:pPr>
            <a:r>
              <a:rPr sz="1300" b="0" i="0">
                <a:solidFill>
                  <a:srgbClr val="5E696C"/>
                </a:solidFill>
                <a:latin typeface="Arial"/>
              </a:rPr>
              <a:t>مصادر شرعية معتمدة للقاموس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9224" y="502920"/>
            <a:ext cx="10911535" cy="5181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 dirty="0" err="1">
                <a:solidFill>
                  <a:srgbClr val="434343"/>
                </a:solidFill>
                <a:latin typeface="Arial"/>
              </a:rPr>
              <a:t>خطة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الموثوقية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والسلامة</a:t>
            </a:r>
            <a:r>
              <a:rPr sz="3200" b="1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3200" b="1" i="0" dirty="0" err="1">
                <a:solidFill>
                  <a:srgbClr val="434343"/>
                </a:solidFill>
                <a:latin typeface="Arial"/>
              </a:rPr>
              <a:t>العلمية</a:t>
            </a:r>
            <a:r>
              <a:rPr lang="ar-EG" sz="3200" b="1" i="0" dirty="0">
                <a:solidFill>
                  <a:srgbClr val="434343"/>
                </a:solidFill>
                <a:latin typeface="Arial"/>
              </a:rPr>
              <a:t>(2)</a:t>
            </a:r>
            <a:endParaRPr sz="3200" b="1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3" name="Oval 2"/>
          <p:cNvSpPr/>
          <p:nvPr/>
        </p:nvSpPr>
        <p:spPr>
          <a:xfrm>
            <a:off x="10195560" y="1920240"/>
            <a:ext cx="457200" cy="45720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47088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434343"/>
                </a:solidFill>
                <a:latin typeface="Arial"/>
              </a:rPr>
              <a:t>الاعتماد على قواميس وبيانات موثوقة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04288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>
                <a:solidFill>
                  <a:srgbClr val="5E696C"/>
                </a:solidFill>
                <a:latin typeface="Arial"/>
              </a:rPr>
              <a:t>لتحسين دقة الترجمة الآلية من مصادرها الأولى.</a:t>
            </a:r>
          </a:p>
        </p:txBody>
      </p:sp>
      <p:sp>
        <p:nvSpPr>
          <p:cNvPr id="6" name="Oval 5"/>
          <p:cNvSpPr/>
          <p:nvPr/>
        </p:nvSpPr>
        <p:spPr>
          <a:xfrm>
            <a:off x="10195560" y="3291840"/>
            <a:ext cx="457200" cy="45720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18688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434343"/>
                </a:solidFill>
                <a:latin typeface="Arial"/>
              </a:rPr>
              <a:t>التعلّم من تصحيحات المستخدمين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75888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>
                <a:solidFill>
                  <a:srgbClr val="5E696C"/>
                </a:solidFill>
                <a:latin typeface="Arial"/>
              </a:rPr>
              <a:t>الاستفادة من الترجمات الموثوقة التي يعتمدها المستخدمون لتحسين الترجمات المستقبلية.</a:t>
            </a:r>
          </a:p>
        </p:txBody>
      </p:sp>
      <p:sp>
        <p:nvSpPr>
          <p:cNvPr id="9" name="Oval 8"/>
          <p:cNvSpPr/>
          <p:nvPr/>
        </p:nvSpPr>
        <p:spPr>
          <a:xfrm>
            <a:off x="10195560" y="4663440"/>
            <a:ext cx="457200" cy="45720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90288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1" i="0">
                <a:solidFill>
                  <a:srgbClr val="434343"/>
                </a:solidFill>
                <a:latin typeface="Arial"/>
              </a:rPr>
              <a:t>واجهة تصحيح سهلة وقوية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47488"/>
            <a:ext cx="90525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50" b="0" i="0">
                <a:solidFill>
                  <a:srgbClr val="5E696C"/>
                </a:solidFill>
                <a:latin typeface="Arial"/>
              </a:rPr>
              <a:t>تمكّن المراجع الشرعي من تعديل أي ترجمة آلية بسرعة ودقة.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أمثلة من المنتج: مساحة العمل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50" b="0" i="0">
                <a:solidFill>
                  <a:srgbClr val="5E696C"/>
                </a:solidFill>
                <a:latin typeface="Arial"/>
              </a:rPr>
              <a:t>عرض مرآتي للنص الأصلي والترجمة، مع تحليل فوري لأي مصطلح وبدائل ترجمته.</a:t>
            </a:r>
          </a:p>
        </p:txBody>
      </p:sp>
      <p:pic>
        <p:nvPicPr>
          <p:cNvPr id="4" name="Picture 3" descr="shot-worksp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571" y="2057400"/>
            <a:ext cx="4182553" cy="4480560"/>
          </a:xfrm>
          <a:prstGeom prst="rect">
            <a:avLst/>
          </a:prstGeom>
          <a:ln w="12700">
            <a:solidFill>
              <a:srgbClr val="F0E1D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أمثلة من المنتج: ترجمة المخطوطات (OCR)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50" b="0" i="0">
                <a:solidFill>
                  <a:srgbClr val="5E696C"/>
                </a:solidFill>
                <a:latin typeface="Arial"/>
              </a:rPr>
              <a:t>استخراج النص من صورة صفحة ممسوحة ضوئياً، واستبداله بالترجمة مع الحفاظ على تصميم الصفحة الأصلي.</a:t>
            </a:r>
          </a:p>
        </p:txBody>
      </p:sp>
      <p:pic>
        <p:nvPicPr>
          <p:cNvPr id="4" name="Picture 3" descr="shot-oc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571" y="2057400"/>
            <a:ext cx="4182553" cy="4480560"/>
          </a:xfrm>
          <a:prstGeom prst="rect">
            <a:avLst/>
          </a:prstGeom>
          <a:ln w="12700">
            <a:solidFill>
              <a:srgbClr val="F0E1D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أمثلة من المنتج: القاموس الشرعي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11535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350" b="0" i="0">
                <a:solidFill>
                  <a:srgbClr val="5E696C"/>
                </a:solidFill>
                <a:latin typeface="Arial"/>
              </a:rPr>
              <a:t>قاموس بحثي محكّم مرتبط بمصادر شرعية معتمدة لكل مصطلح.</a:t>
            </a:r>
          </a:p>
        </p:txBody>
      </p:sp>
      <p:pic>
        <p:nvPicPr>
          <p:cNvPr id="4" name="Picture 3" descr="shot-gloss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4571" y="2057400"/>
            <a:ext cx="4182553" cy="4480560"/>
          </a:xfrm>
          <a:prstGeom prst="rect">
            <a:avLst/>
          </a:prstGeom>
          <a:ln w="12700">
            <a:solidFill>
              <a:srgbClr val="F0E1D4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أهمية المشروع واستخداماته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349240" y="1691640"/>
            <a:ext cx="4434840" cy="1874519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06840" y="1965960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23559" y="2011680"/>
            <a:ext cx="33375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500" b="1" i="0">
                <a:solidFill>
                  <a:srgbClr val="434343"/>
                </a:solidFill>
                <a:latin typeface="Arial"/>
              </a:rPr>
              <a:t>مكاتب الترجمة الإسلامية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23559" y="2743200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0" i="0">
                <a:solidFill>
                  <a:srgbClr val="5E696C"/>
                </a:solidFill>
                <a:latin typeface="Arial"/>
              </a:rPr>
              <a:t>تسريع الإنتاج مع الحفاظ على الجودة الشرعية.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4434840" cy="1874519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4297680" y="1965960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3375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500" b="1" i="0">
                <a:solidFill>
                  <a:srgbClr val="434343"/>
                </a:solidFill>
                <a:latin typeface="Arial"/>
              </a:rPr>
              <a:t>الجهات الدعوية والمنظمات الخيرية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0" i="0">
                <a:solidFill>
                  <a:srgbClr val="5E696C"/>
                </a:solidFill>
                <a:latin typeface="Arial"/>
              </a:rPr>
              <a:t>نشر المحتوى الإسلامي بلغات متعددة بتكلفة أقل.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3840479"/>
            <a:ext cx="4434840" cy="1874519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9006840" y="4114799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59" y="4160519"/>
            <a:ext cx="33375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500" b="1" i="0">
                <a:solidFill>
                  <a:srgbClr val="434343"/>
                </a:solidFill>
                <a:latin typeface="Arial"/>
              </a:rPr>
              <a:t>دور النشر ومحققو التراث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59" y="4892040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0" i="0">
                <a:solidFill>
                  <a:srgbClr val="5E696C"/>
                </a:solidFill>
                <a:latin typeface="Arial"/>
              </a:rPr>
              <a:t>رقمنة وترجمة المخطوطات التراثية القديمة.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840479"/>
            <a:ext cx="4434840" cy="1874519"/>
          </a:xfrm>
          <a:prstGeom prst="roundRect">
            <a:avLst>
              <a:gd name="adj" fmla="val 6000"/>
            </a:avLst>
          </a:prstGeom>
          <a:solidFill>
            <a:srgbClr val="FB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4297680" y="4114799"/>
            <a:ext cx="457200" cy="45720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400" b="1">
                <a:solidFill>
                  <a:srgbClr val="E14548"/>
                </a:solidFill>
                <a:latin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160519"/>
            <a:ext cx="333755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20000"/>
              </a:lnSpc>
            </a:pPr>
            <a:r>
              <a:rPr sz="1500" b="1" i="0">
                <a:solidFill>
                  <a:srgbClr val="434343"/>
                </a:solidFill>
                <a:latin typeface="Arial"/>
              </a:rPr>
              <a:t>الباحثون والأكاديميون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38862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200" b="0" i="0">
                <a:solidFill>
                  <a:srgbClr val="5E696C"/>
                </a:solidFill>
                <a:latin typeface="Arial"/>
              </a:rPr>
              <a:t>الوصول السريع لمصادر شرعية مترجمة وموثقة.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1153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3200" b="1" i="0">
                <a:solidFill>
                  <a:srgbClr val="434343"/>
                </a:solidFill>
                <a:latin typeface="Arial"/>
              </a:rPr>
              <a:t>خطط مستقبلية</a:t>
            </a:r>
          </a:p>
        </p:txBody>
      </p:sp>
      <p:sp>
        <p:nvSpPr>
          <p:cNvPr id="3" name="Oval 2"/>
          <p:cNvSpPr/>
          <p:nvPr/>
        </p:nvSpPr>
        <p:spPr>
          <a:xfrm>
            <a:off x="10195560" y="1737360"/>
            <a:ext cx="411480" cy="41148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64792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>
                <a:solidFill>
                  <a:srgbClr val="434343"/>
                </a:solidFill>
                <a:latin typeface="Arial"/>
              </a:rPr>
              <a:t>دعم لغات إضافية تتجاوز 15 لغة</a:t>
            </a:r>
          </a:p>
        </p:txBody>
      </p:sp>
      <p:sp>
        <p:nvSpPr>
          <p:cNvPr id="5" name="Oval 4"/>
          <p:cNvSpPr/>
          <p:nvPr/>
        </p:nvSpPr>
        <p:spPr>
          <a:xfrm>
            <a:off x="10195560" y="2578608"/>
            <a:ext cx="411480" cy="41148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05116"/>
            <a:ext cx="9052560" cy="2590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 dirty="0" err="1">
                <a:solidFill>
                  <a:srgbClr val="434343"/>
                </a:solidFill>
                <a:latin typeface="Arial"/>
              </a:rPr>
              <a:t>تطوير</a:t>
            </a:r>
            <a:r>
              <a:rPr sz="1600" b="0" i="0" dirty="0">
                <a:solidFill>
                  <a:srgbClr val="434343"/>
                </a:solidFill>
                <a:latin typeface="Arial"/>
              </a:rPr>
              <a:t> OCR </a:t>
            </a:r>
            <a:r>
              <a:rPr lang="ar-EG" sz="16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434343"/>
                </a:solidFill>
                <a:latin typeface="Arial"/>
              </a:rPr>
              <a:t>متخصص</a:t>
            </a:r>
            <a:r>
              <a:rPr sz="16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434343"/>
                </a:solidFill>
                <a:latin typeface="Arial"/>
              </a:rPr>
              <a:t>للمخطوطات</a:t>
            </a:r>
            <a:r>
              <a:rPr sz="16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434343"/>
                </a:solidFill>
                <a:latin typeface="Arial"/>
              </a:rPr>
              <a:t>التراثية</a:t>
            </a:r>
            <a:r>
              <a:rPr sz="16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434343"/>
                </a:solidFill>
                <a:latin typeface="Arial"/>
              </a:rPr>
              <a:t>القديمة</a:t>
            </a:r>
            <a:endParaRPr sz="1600" b="0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7" name="Oval 6"/>
          <p:cNvSpPr/>
          <p:nvPr/>
        </p:nvSpPr>
        <p:spPr>
          <a:xfrm>
            <a:off x="10195560" y="3419856"/>
            <a:ext cx="411480" cy="41148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47288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>
                <a:solidFill>
                  <a:srgbClr val="434343"/>
                </a:solidFill>
                <a:latin typeface="Arial"/>
              </a:rPr>
              <a:t>إطلاق تطبيق جوال للمراجعة والتحرير</a:t>
            </a:r>
          </a:p>
        </p:txBody>
      </p:sp>
      <p:sp>
        <p:nvSpPr>
          <p:cNvPr id="9" name="Oval 8"/>
          <p:cNvSpPr/>
          <p:nvPr/>
        </p:nvSpPr>
        <p:spPr>
          <a:xfrm>
            <a:off x="10195560" y="4261104"/>
            <a:ext cx="411480" cy="41148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88536"/>
            <a:ext cx="905256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>
                <a:solidFill>
                  <a:srgbClr val="434343"/>
                </a:solidFill>
                <a:latin typeface="Arial"/>
              </a:rPr>
              <a:t>شراكات مع مكاتب ترجمة ودور نشر إسلامية</a:t>
            </a:r>
          </a:p>
        </p:txBody>
      </p:sp>
      <p:sp>
        <p:nvSpPr>
          <p:cNvPr id="11" name="Oval 10"/>
          <p:cNvSpPr/>
          <p:nvPr/>
        </p:nvSpPr>
        <p:spPr>
          <a:xfrm>
            <a:off x="10195560" y="5102352"/>
            <a:ext cx="411480" cy="411480"/>
          </a:xfrm>
          <a:prstGeom prst="ellipse">
            <a:avLst/>
          </a:prstGeom>
          <a:solidFill>
            <a:srgbClr val="FCE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>
                <a:solidFill>
                  <a:srgbClr val="E14548"/>
                </a:solidFill>
                <a:latin typeface="Arial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228861"/>
            <a:ext cx="9052560" cy="2590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 rtl="1">
              <a:lnSpc>
                <a:spcPct val="115000"/>
              </a:lnSpc>
            </a:pPr>
            <a:r>
              <a:rPr sz="1600" b="0" i="0" dirty="0" err="1">
                <a:solidFill>
                  <a:srgbClr val="434343"/>
                </a:solidFill>
                <a:latin typeface="Arial"/>
              </a:rPr>
              <a:t>واجهة</a:t>
            </a:r>
            <a:r>
              <a:rPr sz="1600" b="0" i="0" dirty="0">
                <a:solidFill>
                  <a:srgbClr val="434343"/>
                </a:solidFill>
                <a:latin typeface="Arial"/>
              </a:rPr>
              <a:t> API </a:t>
            </a:r>
            <a:r>
              <a:rPr lang="ar-EG" sz="16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434343"/>
                </a:solidFill>
                <a:latin typeface="Arial"/>
              </a:rPr>
              <a:t>للمطورين</a:t>
            </a:r>
            <a:r>
              <a:rPr sz="1600" b="0" i="0" dirty="0">
                <a:solidFill>
                  <a:srgbClr val="434343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434343"/>
                </a:solidFill>
                <a:latin typeface="Arial"/>
              </a:rPr>
              <a:t>والمؤسسات</a:t>
            </a:r>
            <a:endParaRPr sz="1600" b="0" i="0" dirty="0">
              <a:solidFill>
                <a:srgbClr val="434343"/>
              </a:solidFill>
              <a:latin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6400800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 rtl="1">
              <a:lnSpc>
                <a:spcPct val="115000"/>
              </a:lnSpc>
            </a:pPr>
            <a:r>
              <a:rPr sz="1100" b="0" i="0">
                <a:solidFill>
                  <a:srgbClr val="8B9295"/>
                </a:solidFill>
                <a:latin typeface="Arial"/>
              </a:rPr>
              <a:t>ألسن  ·  Alsun.ai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5730087" y="2103120"/>
            <a:ext cx="731520" cy="731520"/>
          </a:xfrm>
          <a:prstGeom prst="ellipse">
            <a:avLst/>
          </a:prstGeom>
          <a:solidFill>
            <a:srgbClr val="F55E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700" b="1">
                <a:solidFill>
                  <a:srgbClr val="FFFFFF"/>
                </a:solidFill>
                <a:latin typeface="Arial"/>
              </a:rPr>
              <a:t>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108960"/>
            <a:ext cx="12191695" cy="7448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600" b="1" i="0" dirty="0" err="1">
                <a:solidFill>
                  <a:srgbClr val="F55E61"/>
                </a:solidFill>
                <a:latin typeface="Arial"/>
              </a:rPr>
              <a:t>شكر</a:t>
            </a:r>
            <a:r>
              <a:rPr lang="ar-EG" sz="4600" b="1" dirty="0">
                <a:solidFill>
                  <a:srgbClr val="F55E61"/>
                </a:solidFill>
                <a:latin typeface="Arial"/>
              </a:rPr>
              <a:t>ً</a:t>
            </a:r>
            <a:r>
              <a:rPr sz="4600" b="1" i="0" dirty="0">
                <a:solidFill>
                  <a:srgbClr val="F55E61"/>
                </a:solidFill>
                <a:latin typeface="Arial"/>
              </a:rPr>
              <a:t>ا </a:t>
            </a:r>
            <a:r>
              <a:rPr sz="4600" b="1" i="0" dirty="0" err="1">
                <a:solidFill>
                  <a:srgbClr val="F55E61"/>
                </a:solidFill>
                <a:latin typeface="Arial"/>
              </a:rPr>
              <a:t>لكم</a:t>
            </a:r>
            <a:endParaRPr sz="4600" b="1" i="0" dirty="0">
              <a:solidFill>
                <a:srgbClr val="F55E61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3977639"/>
            <a:ext cx="1219169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 rtl="1">
              <a:lnSpc>
                <a:spcPct val="100000"/>
              </a:lnSpc>
            </a:pPr>
            <a:r>
              <a:rPr lang="en-US" sz="1500" b="1" i="0" dirty="0" err="1">
                <a:solidFill>
                  <a:srgbClr val="F55E61"/>
                </a:solidFill>
                <a:effectLst/>
                <a:latin typeface="Aref Ruqaa" panose="02000503000000000000" pitchFamily="2" charset="-78"/>
                <a:cs typeface="Aref Ruqaa" panose="02000503000000000000" pitchFamily="2" charset="-78"/>
              </a:rPr>
              <a:t>أَلْسُن</a:t>
            </a:r>
            <a:r>
              <a:rPr sz="1600" b="0" i="0" dirty="0">
                <a:solidFill>
                  <a:srgbClr val="5E696C"/>
                </a:solidFill>
                <a:latin typeface="Arial"/>
              </a:rPr>
              <a:t> — </a:t>
            </a:r>
            <a:r>
              <a:rPr sz="1600" b="0" i="0" dirty="0" err="1">
                <a:solidFill>
                  <a:srgbClr val="5E696C"/>
                </a:solidFill>
                <a:latin typeface="Arial"/>
              </a:rPr>
              <a:t>ترجمة</a:t>
            </a:r>
            <a:r>
              <a:rPr sz="16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5E696C"/>
                </a:solidFill>
                <a:latin typeface="Arial"/>
              </a:rPr>
              <a:t>إسلامية</a:t>
            </a:r>
            <a:r>
              <a:rPr sz="16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5E696C"/>
                </a:solidFill>
                <a:latin typeface="Arial"/>
              </a:rPr>
              <a:t>بدقة</a:t>
            </a:r>
            <a:r>
              <a:rPr sz="1600" b="0" i="0" dirty="0">
                <a:solidFill>
                  <a:srgbClr val="5E696C"/>
                </a:solidFill>
                <a:latin typeface="Arial"/>
              </a:rPr>
              <a:t> </a:t>
            </a:r>
            <a:r>
              <a:rPr sz="1600" b="0" i="0" dirty="0" err="1">
                <a:solidFill>
                  <a:srgbClr val="5E696C"/>
                </a:solidFill>
                <a:latin typeface="Arial"/>
              </a:rPr>
              <a:t>وأمانة</a:t>
            </a:r>
            <a:endParaRPr sz="1600" b="0" i="0" dirty="0">
              <a:solidFill>
                <a:srgbClr val="5E696C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858</Words>
  <Application>Microsoft Office PowerPoint</Application>
  <PresentationFormat>Widescreen</PresentationFormat>
  <Paragraphs>185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Aref Ruqaa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Abushosha Mohamed</cp:lastModifiedBy>
  <cp:revision>9</cp:revision>
  <dcterms:created xsi:type="dcterms:W3CDTF">2013-01-27T09:14:16Z</dcterms:created>
  <dcterms:modified xsi:type="dcterms:W3CDTF">2026-09-29T00:10:42Z</dcterms:modified>
  <cp:category/>
</cp:coreProperties>
</file>