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68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33425-4C1E-436B-BF19-0DA762E64347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45D77-892A-41DE-9DFA-FDD6F6DFC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73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28800"/>
            <a:ext cx="4206240" cy="42062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rcRect l="45602" t="24208" r="45375" b="61162"/>
          <a:stretch>
            <a:fillRect/>
          </a:stretch>
        </p:blipFill>
        <p:spPr>
          <a:xfrm>
            <a:off x="8503920" y="502920"/>
            <a:ext cx="685800" cy="868680"/>
          </a:xfrm>
          <a:prstGeom prst="rect">
            <a:avLst/>
          </a:prstGeom>
        </p:spPr>
      </p:pic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3"/>
          <a:srcRect t="38808" r="2152" b="44895"/>
          <a:stretch>
            <a:fillRect/>
          </a:stretch>
        </p:blipFill>
        <p:spPr>
          <a:xfrm>
            <a:off x="1463040" y="566928"/>
            <a:ext cx="706831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08760"/>
            <a:ext cx="10911535" cy="178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ar-EG" sz="1100" b="0" i="1" dirty="0">
                <a:solidFill>
                  <a:srgbClr val="8B9295"/>
                </a:solidFill>
                <a:latin typeface="Arial"/>
              </a:rPr>
              <a:t>سورة إبراهيم (4)</a:t>
            </a:r>
            <a:endParaRPr sz="1100" b="0" i="1" dirty="0">
              <a:solidFill>
                <a:srgbClr val="8B9295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1" y="2918936"/>
            <a:ext cx="12191695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ar-EG" sz="9600" b="1" i="0" dirty="0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lang="ar-EG" sz="6000" b="1" i="0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" y="47548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 i="0" dirty="0" err="1">
                <a:solidFill>
                  <a:srgbClr val="5E696C"/>
                </a:solidFill>
                <a:latin typeface="Arial"/>
              </a:rPr>
              <a:t>ترجمة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الكتب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الإسلامية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بدقة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شرعية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موثوقة</a:t>
            </a:r>
            <a:endParaRPr sz="2000" b="0" i="0" dirty="0">
              <a:solidFill>
                <a:srgbClr val="5E696C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1" i="0" dirty="0" err="1">
                <a:solidFill>
                  <a:srgbClr val="E14548"/>
                </a:solidFill>
                <a:latin typeface="Arial"/>
              </a:rPr>
              <a:t>تحدي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الذكاء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الاصطناعي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في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خدمة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المحتوى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الإسلامي</a:t>
            </a:r>
            <a:endParaRPr sz="1300" b="1" i="0" dirty="0">
              <a:solidFill>
                <a:srgbClr val="E14548"/>
              </a:solidFill>
              <a:latin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FC6C05-FC79-F72A-CEF7-AFAA47CD2028}"/>
              </a:ext>
            </a:extLst>
          </p:cNvPr>
          <p:cNvSpPr/>
          <p:nvPr/>
        </p:nvSpPr>
        <p:spPr>
          <a:xfrm>
            <a:off x="5730087" y="1847088"/>
            <a:ext cx="731520" cy="7315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الأجندة</a:t>
            </a:r>
          </a:p>
        </p:txBody>
      </p:sp>
      <p:sp>
        <p:nvSpPr>
          <p:cNvPr id="3" name="Oval 2"/>
          <p:cNvSpPr/>
          <p:nvPr/>
        </p:nvSpPr>
        <p:spPr>
          <a:xfrm>
            <a:off x="10195560" y="155448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72012"/>
            <a:ext cx="9052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800" b="1" i="0" dirty="0" err="1">
                <a:solidFill>
                  <a:srgbClr val="434343"/>
                </a:solidFill>
                <a:latin typeface="Arial"/>
              </a:rPr>
              <a:t>هدف</a:t>
            </a:r>
            <a:r>
              <a:rPr sz="18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8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800" b="1" i="0" dirty="0" err="1">
                <a:solidFill>
                  <a:srgbClr val="434343"/>
                </a:solidFill>
                <a:latin typeface="Arial"/>
              </a:rPr>
              <a:t>ورؤيته</a:t>
            </a:r>
            <a:endParaRPr sz="18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5" name="Oval 4"/>
          <p:cNvSpPr/>
          <p:nvPr/>
        </p:nvSpPr>
        <p:spPr>
          <a:xfrm>
            <a:off x="10195560" y="2212848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79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المشكلة وتحليل الطرق الحالية</a:t>
            </a:r>
          </a:p>
        </p:txBody>
      </p:sp>
      <p:sp>
        <p:nvSpPr>
          <p:cNvPr id="7" name="Oval 6"/>
          <p:cNvSpPr/>
          <p:nvPr/>
        </p:nvSpPr>
        <p:spPr>
          <a:xfrm>
            <a:off x="10195560" y="2871215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98647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الحل وتفاصيل المشروع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3529584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57016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آلية العمل والتقنيات المستخدمة</a:t>
            </a:r>
          </a:p>
        </p:txBody>
      </p:sp>
      <p:sp>
        <p:nvSpPr>
          <p:cNvPr id="11" name="Oval 10"/>
          <p:cNvSpPr/>
          <p:nvPr/>
        </p:nvSpPr>
        <p:spPr>
          <a:xfrm>
            <a:off x="10195560" y="418795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15384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خطة الموثوقية والسلامة العلمية</a:t>
            </a:r>
          </a:p>
        </p:txBody>
      </p:sp>
      <p:sp>
        <p:nvSpPr>
          <p:cNvPr id="13" name="Oval 12"/>
          <p:cNvSpPr/>
          <p:nvPr/>
        </p:nvSpPr>
        <p:spPr>
          <a:xfrm>
            <a:off x="10195560" y="484632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73752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أمثلة من المنتج</a:t>
            </a:r>
          </a:p>
        </p:txBody>
      </p:sp>
      <p:sp>
        <p:nvSpPr>
          <p:cNvPr id="15" name="Oval 14"/>
          <p:cNvSpPr/>
          <p:nvPr/>
        </p:nvSpPr>
        <p:spPr>
          <a:xfrm>
            <a:off x="10195560" y="5504688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الأهمية والاستخدامات وخطط مستقبلية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0CB46-6B6F-C11B-9A80-2CBF24E0A28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3200" b="1" i="0" dirty="0" err="1">
                <a:solidFill>
                  <a:srgbClr val="434343"/>
                </a:solidFill>
                <a:latin typeface="Arial"/>
              </a:rPr>
              <a:t>هدف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ar-EG" sz="4800" b="1" dirty="0">
                <a:solidFill>
                  <a:srgbClr val="F55E61"/>
                </a:solidFill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lang="ar-EG" sz="2800" b="1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1218818" y="201168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12428" y="2118364"/>
            <a:ext cx="4208417" cy="314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 dirty="0" err="1">
                <a:solidFill>
                  <a:srgbClr val="434343"/>
                </a:solidFill>
                <a:latin typeface="Arial"/>
              </a:rPr>
              <a:t>صنع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أداة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متخصصة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المحتوى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العربي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والإسلامي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1218818" y="329184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0" y="3398524"/>
            <a:ext cx="5786846" cy="667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 dirty="0" err="1">
                <a:solidFill>
                  <a:srgbClr val="434343"/>
                </a:solidFill>
                <a:latin typeface="Arial"/>
              </a:rPr>
              <a:t>استخدام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الذكاء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الاصطناعي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اختصار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الخطوات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المعتادة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لترجمة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الكتب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والمستندات</a:t>
            </a:r>
            <a:endParaRPr lang="ar-EG" sz="1700" b="0" i="0" dirty="0">
              <a:solidFill>
                <a:srgbClr val="434343"/>
              </a:solidFill>
              <a:latin typeface="Arial"/>
            </a:endParaRPr>
          </a:p>
          <a:p>
            <a:pPr algn="r" rtl="1">
              <a:lnSpc>
                <a:spcPct val="135000"/>
              </a:lnSpc>
            </a:pP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الإسلامية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11218818" y="457200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4370" y="4678684"/>
            <a:ext cx="5536475" cy="314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>
                <a:solidFill>
                  <a:srgbClr val="434343"/>
                </a:solidFill>
                <a:latin typeface="Arial"/>
              </a:rPr>
              <a:t>الاعتماد على العنصر البشري في التدقيق والتوثيق لضمان صحة النص المترجم.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8925" y="645522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100" b="0" i="0" dirty="0" err="1">
                <a:solidFill>
                  <a:srgbClr val="8B9295"/>
                </a:solidFill>
                <a:latin typeface="Arial"/>
              </a:rPr>
              <a:t>ألسن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3F25602-3980-66F2-3A32-530C99B69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79006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المشكلة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195560" y="173736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39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فقدان الدقة الشرعية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أدوات الترجمة العامة لا تفرّق بين المعنى اللغوي والمعنى الشرعي الدقيق للمصطلح الإسلامي.</a:t>
            </a:r>
          </a:p>
        </p:txBody>
      </p:sp>
      <p:sp>
        <p:nvSpPr>
          <p:cNvPr id="6" name="Oval 5"/>
          <p:cNvSpPr/>
          <p:nvPr/>
        </p:nvSpPr>
        <p:spPr>
          <a:xfrm>
            <a:off x="10195560" y="315468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غياب مؤشر الثقة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لا يعرف القارئ أي جزء من الترجمة موثوق تماماً، وأيها يحتاج مراجعة من متخصص شرعي.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57200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بطء الترجمة اليدوية وتكلفتها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ترجمة كتاب إسلامي كامل يدوياً قد تستغرق شهوراً وتتطلب فريقاً متخصصاً مكلفاً.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F0E9BB3-4F5A-CC69-EEC5-2EC54DB885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25" t="17340" r="42100" b="57258"/>
          <a:stretch>
            <a:fillRect/>
          </a:stretch>
        </p:blipFill>
        <p:spPr>
          <a:xfrm>
            <a:off x="1385316" y="1417319"/>
            <a:ext cx="1984248" cy="1600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5EBB33E-0C47-4C21-F6E6-4681BC61A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675" t="51017" r="58050" b="30476"/>
          <a:stretch>
            <a:fillRect/>
          </a:stretch>
        </p:blipFill>
        <p:spPr>
          <a:xfrm>
            <a:off x="1232916" y="3006091"/>
            <a:ext cx="1984248" cy="11658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B15C163-9C5A-C47F-D64A-91B9636472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062" t="68974" r="58663" b="12519"/>
          <a:stretch>
            <a:fillRect/>
          </a:stretch>
        </p:blipFill>
        <p:spPr>
          <a:xfrm>
            <a:off x="1147572" y="4379976"/>
            <a:ext cx="1984248" cy="116586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52B87E-FBD0-7D41-8615-8BF01878459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5E99-878A-60B9-F5F5-B58BBC59BF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577" b="5533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E9A24B-1217-F411-40E2-3E6A8EFFC352}"/>
              </a:ext>
            </a:extLst>
          </p:cNvPr>
          <p:cNvSpPr txBox="1"/>
          <p:nvPr/>
        </p:nvSpPr>
        <p:spPr>
          <a:xfrm>
            <a:off x="5579364" y="6400800"/>
            <a:ext cx="103327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  <p:extLst>
      <p:ext uri="{BB962C8B-B14F-4D97-AF65-F5344CB8AC3E}">
        <p14:creationId xmlns:p14="http://schemas.microsoft.com/office/powerpoint/2010/main" val="3090279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الترجمات الحالية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2253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 i="0" dirty="0" err="1">
                <a:solidFill>
                  <a:srgbClr val="5E696C"/>
                </a:solidFill>
                <a:latin typeface="Arial"/>
              </a:rPr>
              <a:t>قبل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أن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نصل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إلى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منهج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lang="ar-EG" sz="1400" b="1" dirty="0">
                <a:solidFill>
                  <a:srgbClr val="F55E61"/>
                </a:solidFill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هذه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أبرز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الطرق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المتّبعة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حالياً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—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ولكل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منها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عيب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جوهري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8727" y="23774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53047" y="27432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700" b="1" i="0">
                <a:solidFill>
                  <a:srgbClr val="434343"/>
                </a:solidFill>
                <a:latin typeface="Arial"/>
              </a:rPr>
              <a:t>يدوية بالكامل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3047" y="3749039"/>
            <a:ext cx="457200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40000"/>
              </a:lnSpc>
            </a:pPr>
            <a:r>
              <a:rPr sz="1300" b="0" i="0" dirty="0" err="1">
                <a:solidFill>
                  <a:srgbClr val="5E696C"/>
                </a:solidFill>
                <a:latin typeface="Arial"/>
              </a:rPr>
              <a:t>إعادة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كتابة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الترجمة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الصفر</a:t>
            </a:r>
            <a:r>
              <a:rPr lang="ar-EG" sz="1300" b="0" i="0" dirty="0">
                <a:solidFill>
                  <a:srgbClr val="5E696C"/>
                </a:solidFill>
                <a:latin typeface="Arial"/>
              </a:rPr>
              <a:t> -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دقيقة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لكن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تستغرق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وقتاً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طويلاً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جداً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وتكلفة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عالية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23774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6647" y="27432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700" b="1" i="0">
                <a:solidFill>
                  <a:srgbClr val="434343"/>
                </a:solidFill>
                <a:latin typeface="Arial"/>
              </a:rPr>
              <a:t>آلية بالكامل بلا تدخل بشري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3749039"/>
            <a:ext cx="45720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4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سريعة جداً، لكن يصعب اكتشاف الأخطاء الشرعية وتصحيحها.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4379D8-9193-67E1-0512-6B7E52B92924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منهج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sz="3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التوازن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الأمثل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00" b="0" i="0" dirty="0" err="1">
                <a:solidFill>
                  <a:srgbClr val="5E696C"/>
                </a:solidFill>
                <a:latin typeface="Arial"/>
              </a:rPr>
              <a:t>يجمع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منهج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lang="en-US" sz="14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بين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السرعة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الآلية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والتدقيق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البشري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بدلاً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الاختيار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بين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طرف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وآخر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377440"/>
            <a:ext cx="9631375" cy="292608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22225">
            <a:solidFill>
              <a:srgbClr val="F55E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2743200"/>
            <a:ext cx="9631375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 i="0" dirty="0" err="1">
                <a:solidFill>
                  <a:srgbClr val="E14548"/>
                </a:solidFill>
                <a:latin typeface="Arial"/>
              </a:rPr>
              <a:t>آلي</a:t>
            </a:r>
            <a:r>
              <a:rPr lang="ar-EG" sz="1800" b="1" i="0" dirty="0">
                <a:solidFill>
                  <a:srgbClr val="E14548"/>
                </a:solidFill>
                <a:latin typeface="Arial"/>
              </a:rPr>
              <a:t>ة</a:t>
            </a:r>
            <a:r>
              <a:rPr sz="1800" b="1" i="0" dirty="0">
                <a:solidFill>
                  <a:srgbClr val="E14548"/>
                </a:solidFill>
                <a:latin typeface="Arial"/>
              </a:rPr>
              <a:t> + </a:t>
            </a:r>
            <a:r>
              <a:rPr sz="1800" b="1" i="0" dirty="0" err="1">
                <a:solidFill>
                  <a:srgbClr val="E14548"/>
                </a:solidFill>
                <a:latin typeface="Arial"/>
              </a:rPr>
              <a:t>مراجعة</a:t>
            </a:r>
            <a:r>
              <a:rPr sz="18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800" b="1" i="0" dirty="0" err="1">
                <a:solidFill>
                  <a:srgbClr val="E14548"/>
                </a:solidFill>
                <a:latin typeface="Arial"/>
              </a:rPr>
              <a:t>بشرية</a:t>
            </a:r>
            <a:endParaRPr sz="1800" b="1" i="0" dirty="0">
              <a:solidFill>
                <a:srgbClr val="E14548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65615" cy="3046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700" b="1" i="0" dirty="0" err="1">
                <a:solidFill>
                  <a:srgbClr val="434343"/>
                </a:solidFill>
                <a:latin typeface="Arial"/>
              </a:rPr>
              <a:t>استخراج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آلية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مراجعة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ar-EG" sz="1700" b="1" dirty="0">
                <a:solidFill>
                  <a:srgbClr val="434343"/>
                </a:solidFill>
                <a:latin typeface="Arial"/>
              </a:rPr>
              <a:t>على نهج إسلامي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إعادة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تنسيق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تصدير</a:t>
            </a:r>
            <a:endParaRPr sz="17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6313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التوازن الأمثل بين السرعة والدقة الشرعية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16325-1E07-C816-389E-6FD4FE8F9DA8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الحل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منصة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sz="3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50" b="0" i="0" dirty="0" err="1">
                <a:solidFill>
                  <a:srgbClr val="5E696C"/>
                </a:solidFill>
                <a:latin typeface="Arial"/>
              </a:rPr>
              <a:t>يرفع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المستخدم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كتاباً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إسلامياً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بصيغة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PDF،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وتقوم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المنصة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بترجمته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آلياً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مع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الحفاظ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على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التنسيق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الأصلي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،</a:t>
            </a:r>
          </a:p>
          <a:p>
            <a:pPr algn="r" rtl="1">
              <a:lnSpc>
                <a:spcPct val="135000"/>
              </a:lnSpc>
            </a:pPr>
            <a:r>
              <a:rPr sz="1450" b="0" i="0" dirty="0" err="1">
                <a:solidFill>
                  <a:srgbClr val="5E696C"/>
                </a:solidFill>
                <a:latin typeface="Arial"/>
              </a:rPr>
              <a:t>وإظهار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نسبة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ثقة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لكل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كلمة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ومصطلح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استناداً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إلى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قاموس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شرعي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موثوق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مصادر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معتمدة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8466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9799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182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عرض مرآتي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182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الأصل العربي والترجمة جنباً إلى جنب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134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89467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مؤشر ثقة لكل كلمة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تسطير المصطلحات غير المؤكدة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802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9135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قاموس شرعي موثوق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ربط تلقائي بمصادر معتمدة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466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59799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82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تحرير يدوي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182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مراجعة وتعديل مع حفظ التاريخ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134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89467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850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رفع قاموس خاص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850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يضيف المستخدم مصطلحاته ومصادره الخاصة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02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19135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8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مساعد ذكي بعد الترجمة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8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طلب تعديلات مخصصة للنص عبر محادثة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تعريف المشروع بالتفصيل</a:t>
            </a:r>
          </a:p>
        </p:txBody>
      </p:sp>
      <p:sp>
        <p:nvSpPr>
          <p:cNvPr id="3" name="Oval 2"/>
          <p:cNvSpPr/>
          <p:nvPr/>
        </p:nvSpPr>
        <p:spPr>
          <a:xfrm>
            <a:off x="10378440" y="173736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764791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ضم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جميع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خطوات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برنامج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واحد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متكامل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0378440" y="2834639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862071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فهم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التنسيق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الأصلي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للمستندات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لتجنب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إعادة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التنسيق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يدوياً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10378440" y="393192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959352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تحويل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المستندات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المصورة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إلكترونية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(OCR).</a:t>
            </a:r>
          </a:p>
        </p:txBody>
      </p:sp>
      <p:sp>
        <p:nvSpPr>
          <p:cNvPr id="9" name="Oval 8"/>
          <p:cNvSpPr/>
          <p:nvPr/>
        </p:nvSpPr>
        <p:spPr>
          <a:xfrm>
            <a:off x="10378440" y="502920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056632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بالذكاء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الاصطناعي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مع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الحفاظ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على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المعنى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الأصلي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173736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92223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إتاحة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التعديل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الحرفي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على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المترجم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لضمان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الدقة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2834639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9503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ar-EG" sz="1400" b="0" i="0" dirty="0">
                <a:solidFill>
                  <a:srgbClr val="434343"/>
                </a:solidFill>
                <a:latin typeface="Arial"/>
              </a:rPr>
              <a:t>استخدام الذكاء الاصطناعي لتوجيه وتعديل الترجمة.</a:t>
            </a:r>
            <a:endParaRPr sz="14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257800" y="393192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86784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إتاحة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لعدة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لغات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فورياً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5257800" y="502920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84064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ar-EG" sz="1400" b="0" i="0" dirty="0">
                <a:solidFill>
                  <a:srgbClr val="434343"/>
                </a:solidFill>
                <a:latin typeface="Arial"/>
              </a:rPr>
              <a:t>واجهة تعاون تتيح لعدة أفراد العمل على نفس المشروع.</a:t>
            </a:r>
            <a:endParaRPr sz="14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E1F80A-D39B-6417-5503-DFED9E3A4DB1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آلية العمل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513331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إعادة التنسيق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0018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373270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178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مراجعة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9956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233208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7116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الترجمة الآلية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0026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9895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93147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استخراج الكلمات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9964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EAE0C9-94E0-5962-E13F-6FA1D01DF1F1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التقنيات المستخدمة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33007" y="16002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896447" y="18562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607" y="17647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 dirty="0" err="1">
                <a:solidFill>
                  <a:srgbClr val="434343"/>
                </a:solidFill>
                <a:latin typeface="Arial"/>
              </a:rPr>
              <a:t>RetainPDF</a:t>
            </a:r>
            <a:endParaRPr sz="145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61607" y="21671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معالجة ملفات الـ PDF وصناعة الملف النهائي مع الحفاظ على التنسيق.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887" y="16002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364327" y="18562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487" y="17647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Docling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21671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تقسيم صفحات المستند إلى أجزاء وعناصر قابلة للمعالجة.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2004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96447" y="34564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33649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نماذج لغوية كبيرة (LLMs)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7673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ترجمة آلية مزوّدة ببيانات موثوقة، مع الحفاظ على السياق الموضوعي.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887" y="32004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364327" y="34564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487" y="33649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واجهة مستخدم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487" y="37673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لإدارة مشاريع الترجمة والمراجعة والتعديل.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8006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896447" y="50566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9651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خادم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53675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لتنفيذ مهام قراءة البيانات والترجمة.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887" y="48006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364327" y="50566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487" y="49651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قاعدة بيانات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487" y="53675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لتخزين المستندات وبيانات الترجمة.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8C082-C11E-1D3D-0FC6-67E4FD05A263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خطة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الموثوقية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والسلامة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العلمي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ة(1)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50" b="0" i="0">
                <a:solidFill>
                  <a:srgbClr val="5E696C"/>
                </a:solidFill>
                <a:latin typeface="Arial"/>
              </a:rPr>
              <a:t>كل كلمة تُترجم آلياً تحمل نسبة ثقة واضحة، وكل مصطلح دون العتبة المطلوبة يُحال إلى مراجعة بشرية</a:t>
            </a:r>
          </a:p>
          <a:p>
            <a:pPr algn="r" rtl="1">
              <a:lnSpc>
                <a:spcPct val="135000"/>
              </a:lnSpc>
            </a:pPr>
            <a:r>
              <a:rPr sz="1450" b="0" i="0">
                <a:solidFill>
                  <a:srgbClr val="5E696C"/>
                </a:solidFill>
                <a:latin typeface="Arial"/>
              </a:rPr>
              <a:t>قبل اعتماده — لضمان عدم المساس بالمعنى أو الدقة الشرعية.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948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948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+85%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عتبة الثقة لاعتماد الترجمة تلقائياً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564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9564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24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مراجعة بشرية إلزامية دون العتبة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80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6180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4+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040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مصادر شرعية معتمدة للقاموس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1B546B-AEFA-A479-0681-1A42744E7494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9224" y="50292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خطة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الموثوقية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والسلامة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العلمية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(2)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195560" y="19202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470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الاعتماد على قواميس وبيانات موثوقة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042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لتحسين دقة الترجمة الآلية من مصادرها الأولى.</a:t>
            </a:r>
          </a:p>
        </p:txBody>
      </p:sp>
      <p:sp>
        <p:nvSpPr>
          <p:cNvPr id="6" name="Oval 5"/>
          <p:cNvSpPr/>
          <p:nvPr/>
        </p:nvSpPr>
        <p:spPr>
          <a:xfrm>
            <a:off x="10195560" y="32918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186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التعلّم من تصحيحات المستخدمين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758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الاستفادة من الترجمات الموثوقة التي يعتمدها المستخدمون لتحسين الترجمات المستقبلية.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6634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902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واجهة تصحيح سهلة وقوية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474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تمكّن المراجع الشرعي من تعديل أي ترجمة آلية بسرعة ودقة.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B29B7-F56D-E66B-BFD1-06686C1FE71F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7858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أمثلة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من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تطبيق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المخطوطات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(OCR)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74086" y="1822025"/>
            <a:ext cx="1297272" cy="1592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 dirty="0" err="1">
                <a:solidFill>
                  <a:srgbClr val="5E696C"/>
                </a:solidFill>
                <a:latin typeface="Arial"/>
              </a:rPr>
              <a:t>استخراج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النص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صورة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صفحة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ممسوحة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ضوئياً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واستبداله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بالترجمة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مع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الحفاظ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على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تصميم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الصفحة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الأصلي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419185-000E-9658-AED2-72C0994802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33" b="37867"/>
          <a:stretch>
            <a:fillRect/>
          </a:stretch>
        </p:blipFill>
        <p:spPr>
          <a:xfrm>
            <a:off x="4075027" y="1179577"/>
            <a:ext cx="4790066" cy="3758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1DB330-AC99-0502-5D45-2B5322255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196" y="1827623"/>
            <a:ext cx="3420401" cy="48970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D2CE8A-1EDC-51A2-A600-34B52FFBEA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68" y="1822025"/>
            <a:ext cx="3420402" cy="48964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EEF22A-D5EB-4927-A0BD-0E80AA89AC3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أمثلة من المنتج: مساحة العمل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عرض مرآتي للنص الأصلي والترجمة، مع تحليل فوري لأي مصطلح وبدائل ترجمته.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522797-B821-30A4-4F87-A7F7E7A893C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أمثلة من المنتج: القاموس الشرعي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قاموس بحثي محكّم مرتبط بمصادر شرعية معتمدة لكل مصطلح.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70E6BD-4827-3B69-8D3F-DA90E8E89980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أهمية المشروع واستخداماته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49240" y="1691640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006840" y="196596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23559" y="2011680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مكاتب الترجمة الإسلامية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59" y="27432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تسريع الإنتاج مع الحفاظ على الجودة الشرعية.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297680" y="196596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الجهات الدعوية والمنظمات الخيرية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نشر المحتوى الإسلامي بلغات متعددة بتكلفة أقل.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3840479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006840" y="4114799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59" y="4160519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دور النشر ومحققو التراث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59" y="489204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رقمنة وترجمة المخطوطات التراثية القديمة.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297680" y="4114799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19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الباحثون والأكاديميون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الوصول السريع لمصادر شرعية مترجمة وموثقة.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2F57B8-ED97-ABF5-306B-F04ED5486DA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خطط مستقبلية</a:t>
            </a:r>
          </a:p>
        </p:txBody>
      </p:sp>
      <p:sp>
        <p:nvSpPr>
          <p:cNvPr id="3" name="Oval 2"/>
          <p:cNvSpPr/>
          <p:nvPr/>
        </p:nvSpPr>
        <p:spPr>
          <a:xfrm>
            <a:off x="10195560" y="1737360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64792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دعم لغات إضافية تتجاوز 15 لغة</a:t>
            </a:r>
          </a:p>
        </p:txBody>
      </p:sp>
      <p:sp>
        <p:nvSpPr>
          <p:cNvPr id="5" name="Oval 4"/>
          <p:cNvSpPr/>
          <p:nvPr/>
        </p:nvSpPr>
        <p:spPr>
          <a:xfrm>
            <a:off x="10195560" y="2578608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05116"/>
            <a:ext cx="905256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 dirty="0" err="1">
                <a:solidFill>
                  <a:srgbClr val="434343"/>
                </a:solidFill>
                <a:latin typeface="Arial"/>
              </a:rPr>
              <a:t>تطوير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OCR </a:t>
            </a:r>
            <a:r>
              <a:rPr lang="ar-EG"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متخصص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للمخطوطات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التراثية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القديمة</a:t>
            </a:r>
            <a:endParaRPr sz="16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7" name="Oval 6"/>
          <p:cNvSpPr/>
          <p:nvPr/>
        </p:nvSpPr>
        <p:spPr>
          <a:xfrm>
            <a:off x="10195560" y="3419856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472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إطلاق تطبيق جوال للمراجعة والتحرير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261104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88536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شراكات مع مكاتب ترجمة ودور نشر إسلامية</a:t>
            </a:r>
          </a:p>
        </p:txBody>
      </p:sp>
      <p:sp>
        <p:nvSpPr>
          <p:cNvPr id="11" name="Oval 10"/>
          <p:cNvSpPr/>
          <p:nvPr/>
        </p:nvSpPr>
        <p:spPr>
          <a:xfrm>
            <a:off x="10195560" y="5102352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28861"/>
            <a:ext cx="905256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 dirty="0" err="1">
                <a:solidFill>
                  <a:srgbClr val="434343"/>
                </a:solidFill>
                <a:latin typeface="Arial"/>
              </a:rPr>
              <a:t>واجهة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API </a:t>
            </a:r>
            <a:r>
              <a:rPr lang="ar-EG"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للمطورين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والمؤسسات</a:t>
            </a:r>
            <a:endParaRPr sz="16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36F95E-06A9-8916-2657-695E47068E6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30087" y="2103120"/>
            <a:ext cx="731520" cy="7315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108960"/>
            <a:ext cx="12191695" cy="7448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600" b="1" i="0" dirty="0" err="1">
                <a:solidFill>
                  <a:srgbClr val="F55E61"/>
                </a:solidFill>
                <a:latin typeface="Arial"/>
              </a:rPr>
              <a:t>شكر</a:t>
            </a:r>
            <a:r>
              <a:rPr lang="ar-EG" sz="4600" b="1" dirty="0">
                <a:solidFill>
                  <a:srgbClr val="F55E61"/>
                </a:solidFill>
                <a:latin typeface="Arial"/>
              </a:rPr>
              <a:t>ً</a:t>
            </a:r>
            <a:r>
              <a:rPr sz="4600" b="1" i="0" dirty="0">
                <a:solidFill>
                  <a:srgbClr val="F55E61"/>
                </a:solidFill>
                <a:latin typeface="Arial"/>
              </a:rPr>
              <a:t>ا </a:t>
            </a:r>
            <a:r>
              <a:rPr sz="4600" b="1" i="0" dirty="0" err="1">
                <a:solidFill>
                  <a:srgbClr val="F55E61"/>
                </a:solidFill>
                <a:latin typeface="Arial"/>
              </a:rPr>
              <a:t>لكم</a:t>
            </a:r>
            <a:endParaRPr sz="4600" b="1" i="0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en-US" sz="15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lang="ar-EG" sz="1600" dirty="0">
                <a:solidFill>
                  <a:srgbClr val="5E696C"/>
                </a:solidFill>
                <a:effectLst/>
                <a:latin typeface="Arial"/>
                <a:cs typeface="Aref Ruqaa" panose="02000503000000000000" pitchFamily="2" charset="-78"/>
              </a:rPr>
              <a:t> - 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ترجمة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إسلامية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بدقة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وأمانة</a:t>
            </a:r>
            <a:endParaRPr sz="1600" b="0" i="0" dirty="0">
              <a:solidFill>
                <a:srgbClr val="5E696C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865</Words>
  <Application>Microsoft Office PowerPoint</Application>
  <PresentationFormat>Widescreen</PresentationFormat>
  <Paragraphs>187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Aref Ruqaa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Abushosha Mohamed</cp:lastModifiedBy>
  <cp:revision>18</cp:revision>
  <dcterms:created xsi:type="dcterms:W3CDTF">2013-01-27T09:14:16Z</dcterms:created>
  <dcterms:modified xsi:type="dcterms:W3CDTF">2026-09-29T02:53:42Z</dcterms:modified>
  <cp:category/>
</cp:coreProperties>
</file>