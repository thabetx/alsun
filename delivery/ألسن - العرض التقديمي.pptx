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67" r:id="rId17"/>
    <p:sldId id="279" r:id="rId29"/>
    <p:sldId id="268" r:id="rId18"/>
    <p:sldId id="281" r:id="rId31"/>
    <p:sldId id="283" r:id="rId33"/>
    <p:sldId id="275" r:id="rId25"/>
    <p:sldId id="282" r:id="rId32"/>
    <p:sldId id="272" r:id="rId22"/>
    <p:sldId id="276" r:id="rId26"/>
    <p:sldId id="270" r:id="rId20"/>
    <p:sldId id="271" r:id="rId21"/>
    <p:sldId id="287" r:id="rId50"/>
    <p:sldId id="273" r:id="rId23"/>
    <p:sldId id="274" r:id="rId24"/>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8.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9" Type="http://schemas.openxmlformats.org/officeDocument/2006/relationships/slide" Target="slides/slide24.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6" Type="http://schemas.openxmlformats.org/officeDocument/2006/relationships/slide" Target="slides/slide3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 Id="rId50"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السلام عليكم. نحن فريق ألسن. نترجم الكتب الإسلامية من العربية، ونعتمد على مبدأ واحد: الآية تُنقل من مصدرها ولا يترجمها النموذج، والمصطلح يُترجم بمقابله المعتمد، والقرار الأخير للإنسان.</a:t>
            </a: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الكتب الإسلامية فيها آيات ومصطلحات لها دلالة خاصة. الترجمة الآلية العامة تعيد صياغة الآية، وتترجم المصطلح بمقابلات مختلفة، وقد تغيّر المعنى الشرعي. وفي الكتب الممسوحة تنتقل أخطاء الاستخراج إلى الترجمة دون أن ينتبه القارئ.</a:t>
            </a: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ألسن منصة ويب ترفع إليها كتاباً PDF فتستخرج نصه مع مواضع الفقرات، وتكتشف الآيات وتكتبها من ترجمة منشورة، وتترجم الباقي بالمصطلحات المعتمدة، ثم تعرض الأصل والترجمة معاً للمراجعة والاعتماد.</a:t>
            </a:r>
          </a:p>
        </p:txBody>
      </p:sp>
      <p:sp>
        <p:nvSpPr>
          <p:cNvPr id="554" name="Google Shape;5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هذا عارض الكتاب. على اليمين النص العربي، وبجانبه الترجمة، وصفحة الـPDF الأصلية. الآية مميزة وتأتي من مرجعها. كل صف يمكن تعديله أو دمجه أو قفله بعلامة الانتهاء.</a:t>
            </a: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أرقامنا حتى الآن: 348 اختباراً آلياً ناجحاً. وكل آيات القرآن الست آلاف ومئتان وست وثلاثون جاهزة في كل لغة وتُكتب من الملف. والقاموس الشرعي فيه آلاف المصطلحات من نحو خمسة آلاف ومئة في الموسوعة، وتتفاوت تغطيته بين اللغات. وأربع لغات جاهزة. ونقول بصراحة إن قياس الجودة الرقمي الأوسع قيد الإعداد.</a:t>
            </a: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إذا أردتم أن تتذكروا شيئاً واحداً: الآية من مصدرها، والمصطلح بمعناه، والقرار للإنسان.</a:t>
            </a:r>
          </a:p>
        </p:txBody>
      </p:sp>
      <p:sp>
        <p:nvSpPr>
          <p:cNvPr id="624" name="Google Shape;6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نستخدم الذكاء الاصطناعي في ثلاث وظائف: تصحيح أخطاء الاستخراج، والترجمة، والمساعد. والآيات تُكتب من الملف ولا تمر بالنموذج. وللمستخدم أن يختار ChatGPT أو Cohere، وإن لم يستجب أحدهما ننتقل إلى الآخر ونخبره.</a:t>
            </a: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خطتنا بعد التسليم: أولاً طبقة مصطلحات معتمدة من مراجع شرعي والحصول على إذن الموسوعة. ثم إكمال التركية والإندونيسية وسد فجوة الألمانية. ثم حفظ على الخادم وحسابات، والأحاديث، والتصدير بشكل الصفحة. وأخيراً التوسع إلى خمس عشرة لغة وواجهة برمجية وسير مراجعة بشرية.</a:t>
            </a: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هذا فريق ألسن وأدوار أعضائه.</a:t>
            </a: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قاعدة واحدة: المرجع أولاً. الآية من ملف ترجمة منشورة. ومصطلحات المستخدم لها الأولوية وتُطبَّق إلزامياً. والقاموس الشرعي من موسوعة المصطلحات الإسلامية خيار في الإعدادات، وإذا فُعّل يُلتزم به حيث يتطابق المعنى. أما إذا اختلف معنى الكلمة في النص فلا نفرض المقابل، كما في «قدر الله».</a:t>
            </a: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كل ضمان له إثبات. الآية لا تصل للنموذج، وهذا باختبار آلي. والمقابل المعتمد مُلزِم مع إعادة طلب. واحترام المعنى جرّبناه على «قدر الله» فلم يُفرض مقابل «المقدار». والشفافية: المصدر والنموذج معلنان في الإعدادات. ونعتبر التجارب أولية وسنوسعها.</a:t>
            </a: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أربع خطوات. الرفع والاستخراج بخدمة Datalab مع تصحيح أخطاء التعرف الضوئي. ثم كشف الآيات بمكتبة QDetect فنأخذ الآية من ملف مرجعي. ثم الترجمة بنموذج لغوي ومعه المصطلحات المعتمدة، فإن لم يلتزم بها أعدنا الطلب مرة. وأخيراً المراجعة البشرية والتصدير.</a:t>
            </a: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من الصفحة الرئيسية ترفع الكتاب وتختار اللغة. وفي الإعدادات تختار مرجع الآيات ونموذج الذكاء الاصطناعي، وتفعّل القاموس الشرعي أو توقفه. وفي قاموسك الخاص تضيف مصطلحاتك فتكون لها الأولوية.</a:t>
            </a: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الإنسان هو الحَكَم. المساعد الذكي يقترح ولا يطبّق إلا بموافقتك. وتصحيح الأصل يصلح أخطاء الاستخراج. والدمج يضم فقرات متجاورة. وعلامة الانتهاء تقفل الصف حتى لا يتغير.</a:t>
            </a: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الفرق الأساسي: الترجمة العامة لا تفرّق بين آية وكلام، فتعيد صياغة الآية. أما ألسن فيأخذ الآية من مرجعها، ويلزم المصطلح بمقابله المعتمد حيث ينطبق معناه، ويعطي المراجع أدوات المراجعة.</a:t>
            </a: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شكراً لكم. رابط التجربة الحية والمستودع في ملف التسليم. نسعد بأسئلتكم.</a:t>
            </a: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التكلفة ثلاثة عناصر: التعرف الضوئي بالصفحة والنموذج بالفقرة والاستضافة. نضبطها بحفظ كل صفحة بعد معالجتها، وحدود للحجم والطلبات، ونموذج اقتصادي افتراضي. وعندنا بديل لكل اعتماد حرج: نموذجان يحوَّل بينهما، وخدمة OCR قابلة للاستبدال.</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2.xml"/></Relationships>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ألسن</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ترجمة الكتب الإسلامية بأمانة: الآية من مصدرها، والمصطلح بمعناه</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فريق ألسن</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6 أكتوبر 2026م</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المشكلة</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لماذا تفشل الترجمة الآلية مع الكتب الإسلامية؟</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الآية والمصطلح والمعنى الشرعي لا تحتمل التخمين</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الآية تُعاد صياغتها</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بدل نقل ترجمة معتمدة، فتتغير كلماتها أو معناها</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المصطلح يتضارب</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الكلمة الواحدة تُترجم بمقابلات مختلفة في الصفحة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انزياح المعنى الشرعي</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مثل ترجمة «قدر الله» بما يوحي بغير المراد</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الكتب الممسوحة ضوئياً</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أخطاء الاستخراج تنتقل إلى الترجمة دون أن تُرى</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55" name="Shape 555"/>
        <p:cNvGrpSpPr/>
        <p:nvPr/>
      </p:nvGrpSpPr>
      <p:grpSpPr>
        <a:xfrm>
          <a:off x="0" y="0"/>
          <a:ext cx="0" cy="0"/>
          <a:chOff x="0" y="0"/>
          <a:chExt cx="0" cy="0"/>
        </a:xfrm>
      </p:grpSpPr>
      <p:pic>
        <p:nvPicPr>
          <p:cNvPr id="556" name="Google Shape;55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57" name="Google Shape;557;p12"/>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8" name="Google Shape;558;p12"/>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59" name="Google Shape;559;p12"/>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560" name="Google Shape;560;p12"/>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ألسن: ترجمة بأمانة ومراجعة بشرية</a:t>
            </a:r>
            <a:endParaRPr/>
          </a:p>
        </p:txBody>
      </p:sp>
      <p:sp>
        <p:nvSpPr>
          <p:cNvPr id="561" name="Google Shape;561;p1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62" name="Google Shape;562;p12"/>
          <p:cNvSpPr txBox="1"/>
          <p:nvPr>
            <p:ph idx="2" type="body"/>
          </p:nvPr>
        </p:nvSpPr>
        <p:spPr>
          <a:xfrm>
            <a:off x="5886450" y="3604500"/>
            <a:ext cx="10953900" cy="22398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3225"/>
              <a:buNone/>
            </a:pPr>
            <a:r>
              <a:rPr lang="ar-SA" sz="3225">
                <a:solidFill>
                  <a:srgbClr val="F2F4FF"/>
                </a:solidFill>
                <a:latin typeface="Readex Pro Light"/>
                <a:ea typeface="Readex Pro Light"/>
                <a:cs typeface="Readex Pro Light"/>
                <a:sym typeface="Readex Pro Light"/>
              </a:rPr>
              <a:t>نرفع الكتاب بصيغة PDF فنستخرج نصه، ونحمي الآيات بمراجعها، ونترجم الباقي بمصطلحات معتمدة، ونعرض الأصل والترجمة معاً ليعتمدهما الإنسان.</a:t>
            </a:r>
            <a:endParaRPr>
              <a:latin typeface="Readex Pro Light"/>
              <a:ea typeface="Readex Pro Light"/>
              <a:cs typeface="Readex Pro Light"/>
              <a:sym typeface="Readex Pro Light"/>
            </a:endParaRPr>
          </a:p>
        </p:txBody>
      </p:sp>
      <p:sp>
        <p:nvSpPr>
          <p:cNvPr id="563" name="Google Shape;563;p12"/>
          <p:cNvSpPr txBox="1"/>
          <p:nvPr>
            <p:ph idx="3" type="body"/>
          </p:nvPr>
        </p:nvSpPr>
        <p:spPr>
          <a:xfrm>
            <a:off x="5886450" y="7239000"/>
            <a:ext cx="1095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700"/>
              <a:buNone/>
            </a:pPr>
            <a:r>
              <a:rPr b="1" lang="ar-SA" sz="2700">
                <a:solidFill>
                  <a:srgbClr val="2EF2C2"/>
                </a:solidFill>
                <a:latin typeface="Readex Pro"/>
                <a:ea typeface="Readex Pro"/>
                <a:cs typeface="Readex Pro"/>
                <a:sym typeface="Readex Pro"/>
              </a:rPr>
              <a:t>ثلاث ضمانات</a:t>
            </a:r>
            <a:endParaRPr/>
          </a:p>
        </p:txBody>
      </p:sp>
      <p:sp>
        <p:nvSpPr>
          <p:cNvPr id="564" name="Google Shape;564;p12"/>
          <p:cNvSpPr txBox="1"/>
          <p:nvPr>
            <p:ph idx="4" type="body"/>
          </p:nvPr>
        </p:nvSpPr>
        <p:spPr>
          <a:xfrm>
            <a:off x="5886450" y="8001000"/>
            <a:ext cx="10953900" cy="857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لا نترجم القرآن بالنموذج  ·  المصطلح بمقابله المعتمد  ·  الإنسان هو الحَكَم</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المنتج</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العرض المتقابل: الأصل والترجمة معاً</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76" name="Google Shape;576;p13"/>
          <p:cNvSpPr/>
          <p:nvPr>
            <p:ph idx="2" type="pic"/>
          </p:nvPr>
        </p:nvSpPr>
        <p:spPr>
          <a:xfrm>
            <a:off x="1428750" y="4048125"/>
            <a:ext cx="8382000" cy="471480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نراه؟</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النص العربي بجانب ترجمته وصفحة الـPDF، والآية بعلامتها</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يهم المستخدم؟</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يراجع ويعدّل ويقفل كل صف بنفسه، ولا يُطبَّق شيء دون موافقته</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النتائج</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ما أثبتناه حتى الآن</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اختباراتنا الداخلية، 6 أكتوبر 2026</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348</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اختباراً آلياً ناجحاً</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تغطي الآيات والقواميس والمساعد</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6,236</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آية من مصدرها</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كلها دون المرور بالنموذج</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+2,800</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مصطلح شرعي موثوق</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من نحو 5,100 في الموسوعة</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4</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لغات جاهزة</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إنجليزية وفرنسية وألمانية وإسبانية</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اختبارات المشروع وملفاته، وهي أرقام أولية تُحدَّث</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625" name="Shape 625"/>
        <p:cNvGrpSpPr/>
        <p:nvPr/>
      </p:nvGrpSpPr>
      <p:grpSpPr>
        <a:xfrm>
          <a:off x="0" y="0"/>
          <a:ext cx="0" cy="0"/>
          <a:chOff x="0" y="0"/>
          <a:chExt cx="0" cy="0"/>
        </a:xfrm>
      </p:grpSpPr>
      <p:pic>
        <p:nvPicPr>
          <p:cNvPr id="626" name="Google Shape;626;p16"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627" name="Google Shape;627;p1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628" name="Google Shape;628;p16"/>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الآية من مصدرها، والمصطلح بمعناه، والقرار للإنسان</a:t>
            </a:r>
            <a:endParaRPr/>
          </a:p>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
            </a:r>
            <a:endParaRPr/>
          </a:p>
        </p:txBody>
      </p:sp>
      <p:sp>
        <p:nvSpPr>
          <p:cNvPr id="629" name="Google Shape;629;p16"/>
          <p:cNvSpPr txBox="1"/>
          <p:nvPr>
            <p:ph idx="1" type="body"/>
          </p:nvPr>
        </p:nvSpPr>
        <p:spPr>
          <a:xfrm>
            <a:off x="4202375" y="6905625"/>
            <a:ext cx="10752000" cy="5667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6150EA"/>
                </a:solidFill>
                <a:latin typeface="Readex Pro"/>
                <a:ea typeface="Readex Pro"/>
                <a:cs typeface="Readex Pro"/>
                <a:sym typeface="Readex Pro"/>
              </a:rPr>
              <a:t>هذه هي ألسن</a:t>
            </a:r>
            <a:endParaRPr/>
          </a:p>
        </p:txBody>
      </p:sp>
      <p:sp>
        <p:nvSpPr>
          <p:cNvPr id="630" name="Google Shape;630;p16"/>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1950"/>
              <a:buNone/>
            </a:pPr>
            <a:r>
              <a:rPr b="0" lang="ar-SA" sz="1950">
                <a:solidFill>
                  <a:srgbClr val="4A5590"/>
                </a:solidFill>
                <a:latin typeface="Readex Pro"/>
                <a:ea typeface="Readex Pro"/>
                <a:cs typeface="Readex Pro"/>
                <a:sym typeface="Readex Pro"/>
              </a:rPr>
              <a:t/>
            </a:r>
            <a:endParaRPr/>
          </a:p>
        </p:txBody>
      </p:sp>
      <p:pic>
        <p:nvPicPr>
          <p:cNvPr id="631" name="Google Shape;631;p16"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التقنيات</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الذكاء الاصطناعي: أين وكيف؟</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ثلاث وظائف محددة، وممنوع عليه ترجمة القرآن</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الأداة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ما يفعله</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الوظيفة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ChatGPT / Cohere</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مكتمل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إصلاح الحرف الخاطئ والنقطة الناقصة دون إعادة صياغة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تصحيح الاستخراج</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QDetect</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مكتمل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تحديد السورة والآية في كل فقرة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كشف الآيات</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ChatGPT / Cohere</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مكتمل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النص العادي بتعليمات المصطلحات وإعادة طلب</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الترجمة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ChatGPT / Cohere</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مكتمل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اقتراحات تحرير بموافقة المستخدم</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المساعد الذكي</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الآيات لا تمر بالنموذج مطلقاً، وإذا لم يستجب نموذج ننتقل تلقائياً إلى آخر</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الاستمرار</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خطة الاستمرار</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من التسليم إلى ما بعد ستة أشهر</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القاموس المعتمد</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فور التسليم</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مصطلحات من مراجع شرعي، وإذن الموسوعة</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اللغات</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أسابيع</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التركية والإندونيسية وقاموس الألمانية</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حفظ وحسابات</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1–3 أشهر</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قاعدة بيانات وإكمال العمل من أي جهاز</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أحاديث وتصدير</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1–3 أشهر</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ترجمة الحديث المعتمدة وتصدير بشكل الصفحة</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التوسع</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3–6 أشهر</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15 لغة وAPI وسير مراجعة بشرية</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الفريق</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فريق العمل</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فريق ألسن</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693" name="Google Shape;693;p19"/>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الخادم والذكاء الاصطناعي</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696" name="Google Shape;696;p19"/>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الواجهة وتجربة الاستخدام</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699" name="Google Shape;699;p19"/>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المحتوى والمراجعة الشرعية</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702" name="Google Shape;702;p19"/>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المنتج والعرض</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الموثوقية</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القرآن والمصطلحات من مصادرها</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قاعدة واحدة: المرجع أولاً، والنموذج بعده</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الآية من ملف مرجعي</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الهلالي وخان أو صحيح إنترناشيونال، ولا تمر بالنموذج</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قاموسك أولاً</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مصطلحاتك إلزامية، وننبّهك إن لم تُطبَّق</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قاموس شرعي موثوق</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موسوعة المصطلحات الإسلامية، تفعّلها من الإعدادات</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المعنى يحدد التطبيق</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إن اختلف معنى الكلمة في النص تُترك دون فرض</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الحالة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الإثبات</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التفاصيل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الضمان</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مثبت</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اختبار آلي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تُكتب من ملف ترجمة ولا تُرسل للنموذج</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الآية من مصدرها</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مثبت</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اختبارات وتجارب</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قاموسك ثم الموسوعة، بإلزام وإعادة طلب</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المقابل المعتمد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أولي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تجربة «قدر الله»</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يُتجاهل المدخل إن اختلف معنى الكلمة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احترام المعنى</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مكتمل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نافذة الإعدادات</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المصدر والنموذج معلنان للمستخدم</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الشفافية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الموثوقية</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ضمانات يمكن اختبارها</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لكل ضمان اختبار أو تجربة تثبته</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4A5590"/>
                </a:solidFill>
                <a:latin typeface="Readex Pro"/>
                <a:ea typeface="Readex Pro"/>
                <a:cs typeface="Readex Pro"/>
                <a:sym typeface="Readex Pro"/>
              </a:rPr>
              <a:t>348 اختباراً آلياً ناجحاً، وتجارب على Cohere بتاريخ 6 أكتوبر 2026</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آلية العمل</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من الكتاب إلى الترجمة المعتمدة</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أربع خطوات، ويد الإنسان حاضرة في كل واحدة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الرفع والاستخراج</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PDF حتى 200 صفحة، وOCR يحفظ مواضع الفقرات</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Datalab</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كشف الآيات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يميّز الآية من الكلام العادي ويأخذها من مرجعها</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QDetect</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الترجمة بالقاموس</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نموذج لغوي مع المصطلحات المعتمدة وإعادة طلب</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قاموسك ثم الموسوعة</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المراجعة والتصدير</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عرض متقابل وتعديل ومساعد، ثم PDF أو Word</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الإنسان يعتمد</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المنتج</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من الرفع إلى الإعدادات والمصطلحات</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46" name="Google Shape;846;p26"/>
          <p:cNvSpPr/>
          <p:nvPr>
            <p:ph idx="2" type="pic"/>
          </p:nvPr>
        </p:nvSpPr>
        <p:spPr>
          <a:xfrm>
            <a:off x="12077700" y="3714750"/>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txBody>
          <a:bodyPr/>
          <a:p/>
        </p:txBody>
      </p:sp>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الإعدادات: القاموس الشرعي ومرجع الآيات</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قاموسك الخاص: يُطبَّق إلزامياً</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الصفحة الرئيسية: ارفع كتابك</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51" name="Google Shape;851;p26"/>
          <p:cNvSpPr/>
          <p:nvPr>
            <p:ph idx="2" type="pic"/>
          </p:nvPr>
        </p:nvSpPr>
        <p:spPr>
          <a:xfrm>
            <a:off x="6743700" y="3714675"/>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txBody>
          <a:bodyPr/>
          <a:p/>
        </p:txBody>
      </p:sp>
      <p:sp>
        <p:nvSpPr>
          <p:cNvPr id="852" name="Google Shape;852;p26"/>
          <p:cNvSpPr/>
          <p:nvPr>
            <p:ph idx="2" type="pic"/>
          </p:nvPr>
        </p:nvSpPr>
        <p:spPr>
          <a:xfrm>
            <a:off x="1409700" y="3714750"/>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txBody>
          <a:body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التحرير</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الإنسان هو الحَكَم</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أدوات المراجعة في كل صف</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المساعد الذكي</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يقترح تلخيصاً أو تعديلاً، ولا يُطبَّق إلا بموافقتك</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تصحيح الأصل</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تُصلح خطأ الـOCR فتُعاد الترجمة بعد تأكيدك</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دمج الصفوف</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ضمّ فقرتين أو أكثر، وفكّ الدمج متى شئت</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علامة الانتهاء</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قفل الصف المنتهي فلا يتغير بعد ذلك</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الفرق</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ما الذي يضيفه ألسن؟</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مقارنة مع الترجمة الآلية العامة</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الترجمة الآلية العامة</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سريعة، لكنها لا تفرّق بين آية وكلام</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ألسن</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سريع، ومضبوط بمراجع ومراجعة بشرية</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الآية: تُعاد صياغتها</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المصطلح: مقابل مختلف كل مرة</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المراجعة: خارج الأداة</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الآية: من ترجمة منشورة لا من النموذج</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المصطلح: مقابل معتمد وإلزام بالمعنى</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المراجعة: عرض متقابل وتعديل وقفل</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ألسن</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[رابط التجربة الحية]</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36" name="Google Shape;536;p1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التشغيل</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تشغيل واقعي وتكلفة مضبوطة</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ما الذي يحدد التكلفة، وكيف نضبطه</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التعرف الضوئي بالصفحة</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كل صفحة تُحفظ بعد معالجتها فلا تُدفع مرتين</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النموذج بالفقرة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نحو 6 فقرات للصفحة، ونموذج اقتصادي افتراضي</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بدائل للاعتماديات</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نموذجان بتحويل تلقائي، وخدمة OCR قابلة للاستبدال</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حماية الاستهلاك</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حدود للحجم والطلبات، وسقف إنفاق، ومراجعة شرعية للقاموس</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3">
            <a:alphaModFix/>
          </a:blip>
          <a:srcRect b="0" l="0" r="0" t="0"/>
          <a:stretch/>
        </p:blipFill>
        <p:spPr>
          <a:xfrm>
            <a:off x="1066800" y="693967"/>
            <a:ext cx="3429002" cy="87901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ألسن - العرض التقديمي</dc:title>
  <cp:lastModifiedBy>python-pptx</cp:lastModifiedBy>
  <cp:revision>1</cp:revision>
  <dcterms:modified xsi:type="dcterms:W3CDTF">2026-10-06T13:30:50Z</dcterms:modified>
  <dc:creator>فريق ألسن</dc:creator>
</cp:coreProperties>
</file>